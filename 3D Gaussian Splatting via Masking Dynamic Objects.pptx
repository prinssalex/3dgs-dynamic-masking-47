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sldIdLst>
    <p:sldId id="267" r:id="rId2"/>
    <p:sldId id="266" r:id="rId3"/>
    <p:sldId id="256" r:id="rId4"/>
    <p:sldId id="264" r:id="rId5"/>
    <p:sldId id="268" r:id="rId6"/>
    <p:sldId id="259" r:id="rId7"/>
    <p:sldId id="258" r:id="rId8"/>
    <p:sldId id="257" r:id="rId9"/>
    <p:sldId id="265" r:id="rId10"/>
    <p:sldId id="260" r:id="rId11"/>
    <p:sldId id="261" r:id="rId12"/>
    <p:sldId id="262" r:id="rId13"/>
    <p:sldId id="269" r:id="rId14"/>
    <p:sldId id="263" r:id="rId1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8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BEC776-E625-468F-82D5-EE59A9E1DE49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27A8F3-6447-4D56-B1DA-1C35DDA8BB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474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27A8F3-6447-4D56-B1DA-1C35DDA8BB1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42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654" y="1447801"/>
            <a:ext cx="8823360" cy="3329581"/>
          </a:xfrm>
        </p:spPr>
        <p:txBody>
          <a:bodyPr anchor="b"/>
          <a:lstStyle>
            <a:lvl1pPr>
              <a:defRPr sz="7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654" y="4777380"/>
            <a:ext cx="8823360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44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36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2861734"/>
            <a:ext cx="8823359" cy="1915647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0" cy="860400"/>
          </a:xfrm>
        </p:spPr>
        <p:txBody>
          <a:bodyPr anchor="t"/>
          <a:lstStyle>
            <a:lvl1pPr marL="0" indent="0" algn="l">
              <a:buNone/>
              <a:defRPr sz="1999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8418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025" y="2060576"/>
            <a:ext cx="4395194" cy="4195763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3021" y="2056093"/>
            <a:ext cx="4395196" cy="4200245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27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6" y="1905000"/>
            <a:ext cx="4395193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025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3023" y="1905000"/>
            <a:ext cx="439519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3023" y="2514600"/>
            <a:ext cx="4395194" cy="3741738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023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7934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3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2" y="1447800"/>
            <a:ext cx="3400178" cy="1447800"/>
          </a:xfrm>
        </p:spPr>
        <p:txBody>
          <a:bodyPr anchor="b"/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3370" y="1447800"/>
            <a:ext cx="5194644" cy="45720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3" y="3129281"/>
            <a:ext cx="3400177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960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606" y="1854192"/>
            <a:ext cx="5091580" cy="1574808"/>
          </a:xfrm>
        </p:spPr>
        <p:txBody>
          <a:bodyPr anchor="b">
            <a:normAutofit/>
          </a:bodyPr>
          <a:lstStyle>
            <a:lvl1pPr algn="l">
              <a:defRPr sz="35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7736" y="1143000"/>
            <a:ext cx="3199567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5083655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730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6" y="4800587"/>
            <a:ext cx="8823359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654" y="685800"/>
            <a:ext cx="8823360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5" y="5367325"/>
            <a:ext cx="882335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8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4" y="1447800"/>
            <a:ext cx="8823361" cy="1981200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3657600"/>
            <a:ext cx="8823361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9044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391" y="1447800"/>
            <a:ext cx="7997232" cy="2323374"/>
          </a:xfrm>
        </p:spPr>
        <p:txBody>
          <a:bodyPr/>
          <a:lstStyle>
            <a:lvl1pPr>
              <a:defRPr sz="47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29898" y="3771174"/>
            <a:ext cx="7277753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654" y="4350657"/>
            <a:ext cx="8823361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061" y="971253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8060" y="2613787"/>
            <a:ext cx="801703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196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301536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653" y="3124201"/>
            <a:ext cx="8823362" cy="1653180"/>
          </a:xfrm>
        </p:spPr>
        <p:txBody>
          <a:bodyPr anchor="b"/>
          <a:lstStyle>
            <a:lvl1pPr algn="l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654" y="4777381"/>
            <a:ext cx="8823361" cy="860400"/>
          </a:xfrm>
        </p:spPr>
        <p:txBody>
          <a:bodyPr anchor="t"/>
          <a:lstStyle>
            <a:lvl1pPr marL="0" indent="0" algn="l">
              <a:buNone/>
              <a:defRPr sz="1999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2513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782" y="1981200"/>
            <a:ext cx="294609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293" y="2667000"/>
            <a:ext cx="292658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2648" y="1981200"/>
            <a:ext cx="2935476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2097" y="2667000"/>
            <a:ext cx="2946027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1981200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2845" y="2667000"/>
            <a:ext cx="2931349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820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293" y="4250949"/>
            <a:ext cx="2939284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293" y="2209800"/>
            <a:ext cx="2939284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293" y="4827212"/>
            <a:ext cx="2939284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8363" y="4250949"/>
            <a:ext cx="2929762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8362" y="2209800"/>
            <a:ext cx="292976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7009" y="4827211"/>
            <a:ext cx="293364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2845" y="4250949"/>
            <a:ext cx="2931349" cy="576262"/>
          </a:xfrm>
        </p:spPr>
        <p:txBody>
          <a:bodyPr anchor="b">
            <a:noAutofit/>
          </a:bodyPr>
          <a:lstStyle>
            <a:lvl1pPr marL="0" indent="0">
              <a:buNone/>
              <a:defRPr sz="2399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2844" y="2209800"/>
            <a:ext cx="2931349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2720" y="4827209"/>
            <a:ext cx="293523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517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0414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015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213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2050" y="430214"/>
            <a:ext cx="1752145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294" y="887414"/>
            <a:ext cx="7421216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56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6"/>
            <a:ext cx="4035961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8"/>
            <a:ext cx="1522016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6770" y="1676400"/>
            <a:ext cx="2818666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7330" y="1"/>
            <a:ext cx="1602969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3637" y="6096000"/>
            <a:ext cx="993475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5094" y="0"/>
            <a:ext cx="685621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025" y="2052919"/>
            <a:ext cx="894421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2866" y="1790741"/>
            <a:ext cx="990599" cy="304720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48740" y="3225337"/>
            <a:ext cx="3859795" cy="30472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49844" y="295730"/>
            <a:ext cx="837981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799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6002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4199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797" indent="-342797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999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727" indent="-285664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799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2657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599720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6783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524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0908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7971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5034" indent="-228531" algn="l" defTabSz="457063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476AC-6832-44B8-97B2-15D2D8A22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275" y="395568"/>
            <a:ext cx="9402274" cy="2661957"/>
          </a:xfrm>
        </p:spPr>
        <p:txBody>
          <a:bodyPr/>
          <a:lstStyle/>
          <a:p>
            <a:pPr algn="ctr"/>
            <a:r>
              <a:rPr lang="en-US" dirty="0"/>
              <a:t>ITMO UNIVERSITY</a:t>
            </a:r>
            <a:br>
              <a:rPr lang="en-US" dirty="0"/>
            </a:br>
            <a:br>
              <a:rPr lang="en-US" dirty="0"/>
            </a:br>
            <a:r>
              <a:rPr lang="en-US" sz="2400" b="1" dirty="0"/>
              <a:t>FACULTY OF CONTROL SYSTEMS AND ROBOTICS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B821AA7-39D4-4016-8849-EB85232ACE41}"/>
              </a:ext>
            </a:extLst>
          </p:cNvPr>
          <p:cNvSpPr txBox="1">
            <a:spLocks/>
          </p:cNvSpPr>
          <p:nvPr/>
        </p:nvSpPr>
        <p:spPr>
          <a:xfrm>
            <a:off x="1111768" y="3328989"/>
            <a:ext cx="10251038" cy="9429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COURSE: MACHINE LEARNING IN ROBOTICS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164AAF7-BE46-4827-8B3C-C4B36474C4C1}"/>
              </a:ext>
            </a:extLst>
          </p:cNvPr>
          <p:cNvSpPr txBox="1">
            <a:spLocks/>
          </p:cNvSpPr>
          <p:nvPr/>
        </p:nvSpPr>
        <p:spPr>
          <a:xfrm>
            <a:off x="1393275" y="4414838"/>
            <a:ext cx="9402274" cy="17145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063" rtl="0" eaLnBrk="1" latinLnBrk="0" hangingPunct="1">
              <a:spcBef>
                <a:spcPct val="0"/>
              </a:spcBef>
              <a:buNone/>
              <a:defRPr sz="4199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3200" dirty="0"/>
              <a:t>INSTRUCTORS</a:t>
            </a:r>
          </a:p>
          <a:p>
            <a:pPr algn="ctr"/>
            <a:r>
              <a:rPr lang="en-US" sz="2400" dirty="0"/>
              <a:t>Professor S. </a:t>
            </a:r>
            <a:r>
              <a:rPr lang="en-US" sz="2400" dirty="0" err="1"/>
              <a:t>Kolyubin</a:t>
            </a:r>
            <a:endParaRPr lang="en-US" sz="2400" dirty="0"/>
          </a:p>
          <a:p>
            <a:pPr algn="ctr"/>
            <a:r>
              <a:rPr lang="en-US" sz="2400" dirty="0"/>
              <a:t>Professor A.A. </a:t>
            </a:r>
            <a:r>
              <a:rPr lang="en-US" sz="2400" dirty="0" err="1"/>
              <a:t>Vedyakov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614695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B215045-A8E7-468B-987F-D7256A7AEABD}"/>
              </a:ext>
            </a:extLst>
          </p:cNvPr>
          <p:cNvSpPr txBox="1">
            <a:spLocks/>
          </p:cNvSpPr>
          <p:nvPr/>
        </p:nvSpPr>
        <p:spPr>
          <a:xfrm>
            <a:off x="1224116" y="896963"/>
            <a:ext cx="9438968" cy="11557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Increasing the Robustness of 3D Gaussian Splatting via Masking Dynamic Objects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7117071-5297-4063-9671-555869CD630A}"/>
              </a:ext>
            </a:extLst>
          </p:cNvPr>
          <p:cNvSpPr txBox="1">
            <a:spLocks/>
          </p:cNvSpPr>
          <p:nvPr/>
        </p:nvSpPr>
        <p:spPr>
          <a:xfrm>
            <a:off x="2005781" y="2200276"/>
            <a:ext cx="7095357" cy="3443286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dirty="0"/>
              <a:t>BY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486554_Mandengs C I</a:t>
            </a:r>
          </a:p>
          <a:p>
            <a:r>
              <a:rPr lang="en-US" dirty="0"/>
              <a:t>476149_Jacob </a:t>
            </a:r>
            <a:r>
              <a:rPr lang="en-US" dirty="0" err="1"/>
              <a:t>Ahemen</a:t>
            </a:r>
            <a:endParaRPr lang="en-US" dirty="0"/>
          </a:p>
          <a:p>
            <a:r>
              <a:rPr lang="en-US" dirty="0"/>
              <a:t>474343_Prince Alex</a:t>
            </a:r>
          </a:p>
          <a:p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December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1CB245-DD5A-4CEE-B757-11EDEF63839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2095891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85750"/>
            <a:ext cx="11329989" cy="1543050"/>
          </a:xfrm>
        </p:spPr>
        <p:txBody>
          <a:bodyPr>
            <a:normAutofit/>
          </a:bodyPr>
          <a:lstStyle/>
          <a:p>
            <a:br>
              <a:rPr lang="en-US" dirty="0"/>
            </a:b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84731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914400" y="2274838"/>
            <a:ext cx="1078042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1.1 MOTIVATION</a:t>
            </a:r>
          </a:p>
          <a:p>
            <a:pPr algn="ctr">
              <a:defRPr sz="2400" b="0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2400" b="0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</a:t>
            </a:r>
            <a:r>
              <a:rPr lang="en-US" sz="2400" dirty="0"/>
              <a:t>the robustness of image reconstruction in 3D Gaussian Splatting (3DGS) by masking (in 2D) the dynamic objects, since they introduce noise, instability, and artifacts.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14B8FB-968F-41E7-B7FD-FC1362B5926B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6A3302-573F-404E-8038-024DE1C53E00}"/>
              </a:ext>
            </a:extLst>
          </p:cNvPr>
          <p:cNvSpPr txBox="1"/>
          <p:nvPr/>
        </p:nvSpPr>
        <p:spPr>
          <a:xfrm>
            <a:off x="2005781" y="357188"/>
            <a:ext cx="70953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ONE: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6B87D41-5D62-4FA6-A8E2-C560E214A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9612" y="249239"/>
            <a:ext cx="8229600" cy="83661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1.2 </a:t>
            </a:r>
            <a:r>
              <a:rPr sz="3200" b="1" dirty="0"/>
              <a:t>Problem </a:t>
            </a:r>
            <a:r>
              <a:rPr lang="en-US" sz="3200" b="1" dirty="0"/>
              <a:t>Statement</a:t>
            </a:r>
            <a:endParaRPr sz="3200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801A276-B99E-4408-9C6B-1171A310BD24}"/>
              </a:ext>
            </a:extLst>
          </p:cNvPr>
          <p:cNvSpPr txBox="1">
            <a:spLocks/>
          </p:cNvSpPr>
          <p:nvPr/>
        </p:nvSpPr>
        <p:spPr>
          <a:xfrm>
            <a:off x="1514475" y="1600200"/>
            <a:ext cx="9886950" cy="3457575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r>
              <a:rPr lang="en-US" sz="2400" dirty="0"/>
              <a:t>3DGS assumes static scenes – in reality, scenes are rarely static.</a:t>
            </a:r>
          </a:p>
          <a:p>
            <a:r>
              <a:rPr lang="en-US" sz="2400" dirty="0"/>
              <a:t>Dynamic objects introduce noise, instability, and artifacts.</a:t>
            </a:r>
          </a:p>
          <a:p>
            <a:r>
              <a:rPr lang="en-US" sz="2400" dirty="0"/>
              <a:t>The need to produce cleaner, more stable reconstructions that better capture the underlying static geometry, ultimately enhancing the practicality of 3DGS for applications.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79DEB7-7595-438C-8FFC-5051851965F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  <p:extLst>
      <p:ext uri="{BB962C8B-B14F-4D97-AF65-F5344CB8AC3E}">
        <p14:creationId xmlns:p14="http://schemas.microsoft.com/office/powerpoint/2010/main" val="104343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CC38-4841-411D-BD15-15B79C9F7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4764" y="152682"/>
            <a:ext cx="9402274" cy="633132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1.3: Brief on 3D Gaussian Splatting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C5E39D-5E57-4C71-A541-FE5A914B5A0A}"/>
              </a:ext>
            </a:extLst>
          </p:cNvPr>
          <p:cNvSpPr txBox="1"/>
          <p:nvPr/>
        </p:nvSpPr>
        <p:spPr>
          <a:xfrm>
            <a:off x="1457325" y="1685925"/>
            <a:ext cx="912971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Gaussian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Splatting</a:t>
            </a:r>
            <a:r>
              <a:rPr lang="en-US" dirty="0"/>
              <a:t> (3DGS is a real-time radiance field rendering technique that represents a scene using a set of </a:t>
            </a:r>
            <a:r>
              <a:rPr lang="en-US" b="1" dirty="0"/>
              <a:t>anisotropic 3D Gaussians</a:t>
            </a:r>
            <a:r>
              <a:rPr lang="en-US" dirty="0"/>
              <a:t> instead of dense voxel grids or neural implicit fields.</a:t>
            </a:r>
          </a:p>
          <a:p>
            <a:endParaRPr lang="en-US" dirty="0"/>
          </a:p>
          <a:p>
            <a:r>
              <a:rPr lang="en-US" dirty="0"/>
              <a:t>Each Gaussian Stores: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3D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Covariance (size and orientation)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Color (spherical harmonics)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View-dependent appearance features</a:t>
            </a:r>
          </a:p>
        </p:txBody>
      </p:sp>
    </p:spTree>
    <p:extLst>
      <p:ext uri="{BB962C8B-B14F-4D97-AF65-F5344CB8AC3E}">
        <p14:creationId xmlns:p14="http://schemas.microsoft.com/office/powerpoint/2010/main" val="3277453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828715" y="147838"/>
            <a:ext cx="461519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1.4: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PSNR(PEAK SIGNAL-TO-NOISE RATIO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MSE = (1/(HW)) </a:t>
                </a:r>
                <a:r>
                  <a:rPr lang="el-GR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Σ (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− </a:t>
                </a:r>
                <a:r>
                  <a:rPr lang="en-US" dirty="0" err="1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K_ij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)^2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PSNR 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10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𝑀𝑆𝐸</m:t>
                            </m:r>
                          </m:den>
                        </m:f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better reconstruction</a:t>
                </a:r>
              </a:p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 Formula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SSIM</a:t>
                </a:r>
                <a:r>
                  <a:rPr lang="en-US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(x, y)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)(2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µ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)(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Measures luminance, contrast, structure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 = more accurate</a:t>
                </a:r>
              </a:p>
              <a:p>
                <a:pPr algn="ctr">
                  <a:defRPr sz="2000" b="0"/>
                </a:pP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>
                  <a:defRPr sz="2000" b="0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Formula</a:t>
                </a: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LPIPS (x, y)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  <m:nary>
                          <m:naryPr>
                            <m:chr m:val="∑"/>
                            <m:limLoc m:val="undOvr"/>
                            <m:supHide m:val="on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  <m:sup/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||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⊙(</m:t>
                            </m:r>
                            <m:sSubSup>
                              <m:sSub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p>
                            </m:sSub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− </m:t>
                            </m:r>
                          </m:e>
                        </m:nary>
                      </m:e>
                    </m:nary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)||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/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342900" indent="-342900" algn="ctr">
                  <a:buFont typeface="Arial" panose="020B0604020202020204" pitchFamily="34" charset="0"/>
                  <a:buChar char="•"/>
                  <a:defRPr sz="2000" b="0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Feature-based perceptual similarity</a:t>
                </a:r>
              </a:p>
              <a:p>
                <a:pPr marL="285750" indent="-285750" algn="ctr">
                  <a:buFont typeface="Arial" panose="020B0604020202020204" pitchFamily="34" charset="0"/>
                  <a:buChar char="•"/>
                </a:pPr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Lower = more perceptually similar</a:t>
                </a:r>
              </a:p>
              <a:p>
                <a:endParaRPr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833" y="940151"/>
                <a:ext cx="8024961" cy="5812873"/>
              </a:xfrm>
              <a:prstGeom prst="rect">
                <a:avLst/>
              </a:prstGeom>
              <a:blipFill>
                <a:blip r:embed="rId2"/>
                <a:stretch>
                  <a:fillRect t="-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E95348C-9CE2-4ED3-94A9-48D76BC53E49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8F524-EF64-486C-B581-A9569C2993BF}"/>
              </a:ext>
            </a:extLst>
          </p:cNvPr>
          <p:cNvSpPr txBox="1"/>
          <p:nvPr/>
        </p:nvSpPr>
        <p:spPr>
          <a:xfrm>
            <a:off x="8443913" y="1814513"/>
            <a:ext cx="3557587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 = maximum possible pixel value of the image (e.g., 1.0 if normalized, 255 if 8-bit)</a:t>
            </a:r>
          </a:p>
          <a:p>
            <a:r>
              <a:rPr lang="en-US" sz="1100" b="1" dirty="0"/>
              <a:t>MSE</a:t>
            </a:r>
            <a:r>
              <a:rPr lang="en-US" sz="1100" dirty="0"/>
              <a:t>=BTW predicted and ground truth images: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5D1339-B66F-4D04-B75A-82876271582C}"/>
              </a:ext>
            </a:extLst>
          </p:cNvPr>
          <p:cNvSpPr txBox="1"/>
          <p:nvPr/>
        </p:nvSpPr>
        <p:spPr>
          <a:xfrm>
            <a:off x="8905230" y="3280915"/>
            <a:ext cx="2810520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x, y </a:t>
            </a:r>
            <a:r>
              <a:rPr lang="en-US" sz="1100" dirty="0"/>
              <a:t>= local patches of predicted and ground truth images</a:t>
            </a:r>
          </a:p>
          <a:p>
            <a:r>
              <a:rPr lang="en-US" sz="1100" b="1" dirty="0" err="1"/>
              <a:t>μx</a:t>
            </a:r>
            <a:r>
              <a:rPr lang="en-US" sz="1100" b="1" dirty="0"/>
              <a:t>​, </a:t>
            </a:r>
            <a:r>
              <a:rPr lang="en-US" sz="1100" b="1" dirty="0" err="1"/>
              <a:t>μy</a:t>
            </a:r>
            <a:r>
              <a:rPr lang="en-US" sz="1100" dirty="0"/>
              <a:t>​ = mean intensity of x and y</a:t>
            </a:r>
          </a:p>
          <a:p>
            <a:r>
              <a:rPr lang="en-US" sz="1100" b="1" dirty="0"/>
              <a:t>σx2​,σy2</a:t>
            </a:r>
            <a:r>
              <a:rPr lang="en-US" sz="1100" dirty="0"/>
              <a:t>​ = variance of x and y</a:t>
            </a:r>
          </a:p>
          <a:p>
            <a:r>
              <a:rPr lang="en-US" sz="1100" b="1" dirty="0" err="1"/>
              <a:t>σxy</a:t>
            </a:r>
            <a:r>
              <a:rPr lang="en-US" sz="1100" dirty="0"/>
              <a:t>​ = covariance between x and y</a:t>
            </a:r>
          </a:p>
          <a:p>
            <a:endParaRPr lang="en-US" sz="1100" dirty="0"/>
          </a:p>
          <a:p>
            <a:r>
              <a:rPr lang="en-US" sz="1100" dirty="0"/>
              <a:t>Others= Stabilization constants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/>
              <p:nvPr/>
            </p:nvSpPr>
            <p:spPr>
              <a:xfrm>
                <a:off x="223288" y="4913091"/>
                <a:ext cx="4493855" cy="11751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i="1" dirty="0"/>
                  <a:t>x, y </a:t>
                </a:r>
                <a:r>
                  <a:rPr lang="en-US" sz="1000" dirty="0"/>
                  <a:t>= images</a:t>
                </a:r>
              </a:p>
              <a:p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000" i="1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en-US" sz="1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p>
                      </m:sSup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feature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activations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pretrained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network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(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g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.,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AlexNet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VGG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)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at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learned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per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channel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weights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for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US" sz="1000" i="1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spatial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dimensions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of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000">
                          <a:latin typeface="Cambria Math" panose="02040503050406030204" pitchFamily="18" charset="0"/>
                        </a:rPr>
                        <m:t>layer</m:t>
                      </m:r>
                      <m:r>
                        <a:rPr lang="en-US" sz="100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000" i="1">
                          <a:latin typeface="Cambria Math" panose="02040503050406030204" pitchFamily="18" charset="0"/>
                        </a:rPr>
                        <m:t>𝑙</m:t>
                      </m:r>
                    </m:oMath>
                  </m:oMathPara>
                </a14:m>
                <a:endParaRPr lang="en-US" sz="1000" dirty="0"/>
              </a:p>
              <a:p>
                <a:endParaRPr lang="en-US" sz="1000" dirty="0"/>
              </a:p>
              <a:p>
                <a:endParaRPr lang="en-US" sz="1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22BBAEF-18FB-4A37-901F-C35A811D4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288" y="4913091"/>
                <a:ext cx="4493855" cy="117519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1068328"/>
            <a:ext cx="100155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2800" dirty="0"/>
              <a:t>2.0 Overview of Masking Strategies Employed</a:t>
            </a:r>
            <a:endParaRPr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857250" y="1673573"/>
            <a:ext cx="958819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dirty="0"/>
              <a:t>1. </a:t>
            </a:r>
            <a:r>
              <a:rPr sz="2000" b="1" dirty="0"/>
              <a:t>Gradient Masking</a:t>
            </a:r>
            <a:r>
              <a:rPr lang="en-US" sz="2000" b="1" dirty="0"/>
              <a:t> (Loss Masking)</a:t>
            </a:r>
            <a:r>
              <a:rPr sz="2000" b="1" dirty="0"/>
              <a:t> </a:t>
            </a:r>
            <a:r>
              <a:rPr sz="2000" dirty="0"/>
              <a:t>– Weight loss by (1-mask).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It down-weights masked pixels in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Supervises only static pixels (dynamic regions ignored during optimization).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Simpler to implement.</a:t>
            </a:r>
            <a:endParaRPr sz="2000" dirty="0"/>
          </a:p>
          <a:p>
            <a:r>
              <a:rPr sz="2000" dirty="0"/>
              <a:t>2</a:t>
            </a:r>
            <a:r>
              <a:rPr sz="2000" b="1" dirty="0"/>
              <a:t>. Ray Filtering </a:t>
            </a:r>
            <a:r>
              <a:rPr sz="2000" dirty="0"/>
              <a:t>– Discard rays passing through dynamic regions.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Removes masked rays fully from training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Higher PSNR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Sharper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Provides stronger guarantees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implementation</a:t>
            </a:r>
            <a:endParaRPr lang="en-US" sz="2000" dirty="0"/>
          </a:p>
          <a:p>
            <a:r>
              <a:rPr lang="en-US" sz="2000" dirty="0"/>
              <a:t>3. </a:t>
            </a:r>
            <a:r>
              <a:rPr lang="en-US" sz="2000" b="1" dirty="0"/>
              <a:t>Baseline (unmasked) </a:t>
            </a:r>
            <a:r>
              <a:rPr lang="en-US" sz="2000" dirty="0"/>
              <a:t>- trains 3D Gaussian Splatting normally.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uses all pixels from all training images without considering whether the scene parts are dynamic or static.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No mask guidance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Expected to show ghosting and blur on static background</a:t>
            </a:r>
            <a:endParaRPr lang="en-US" sz="2000" dirty="0"/>
          </a:p>
          <a:p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2453A-565D-40E8-8A90-D6EFEAFC29E1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356AA7-C7A7-47A8-B461-9A83CB67AB8B}"/>
              </a:ext>
            </a:extLst>
          </p:cNvPr>
          <p:cNvSpPr txBox="1"/>
          <p:nvPr/>
        </p:nvSpPr>
        <p:spPr>
          <a:xfrm>
            <a:off x="3671888" y="320624"/>
            <a:ext cx="59007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TWO: METHODS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28850" y="362606"/>
            <a:ext cx="668655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2.1: 2D MASKING IN 3DGS – why?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199" y="1371600"/>
            <a:ext cx="11244263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/>
            </a:pPr>
            <a:r>
              <a:rPr lang="en-US" sz="2400" dirty="0"/>
              <a:t>Since d</a:t>
            </a:r>
            <a:r>
              <a:rPr sz="2400" dirty="0"/>
              <a:t>ynamic objects in scenes cause reconstruction artifacts in 3D Gaussian Splatting</a:t>
            </a:r>
            <a:r>
              <a:rPr lang="en-US" sz="2400" b="1" dirty="0"/>
              <a:t> </a:t>
            </a:r>
            <a:r>
              <a:rPr lang="en-US" sz="2400" dirty="0"/>
              <a:t>the goal of masking is to i</a:t>
            </a:r>
            <a:r>
              <a:rPr sz="2400" dirty="0"/>
              <a:t>mprove reconstruction fidelity using 2D semantic masks</a:t>
            </a:r>
            <a:r>
              <a:rPr lang="en-US" sz="2400" dirty="0"/>
              <a:t>.</a:t>
            </a:r>
          </a:p>
          <a:p>
            <a:pPr>
              <a:defRPr sz="2000" b="0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Hypothesis: For 2D binary masks (1 = static, 0 = dynamic) integrated during training eliminates static artifact error while maintaining efficiency.</a:t>
            </a:r>
            <a:endParaRPr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A261B-F9E9-4A48-80DD-57CDC16F64DF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B751DA8-FCD6-4256-AA67-B534FBF1A4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388" y="3429000"/>
            <a:ext cx="9086850" cy="26970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0184D0-2584-4838-A447-C7D770F5808A}"/>
              </a:ext>
            </a:extLst>
          </p:cNvPr>
          <p:cNvSpPr txBox="1"/>
          <p:nvPr/>
        </p:nvSpPr>
        <p:spPr>
          <a:xfrm>
            <a:off x="2110977" y="6126062"/>
            <a:ext cx="6804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2.1 Demonstration of Masking: Artifacts are removed.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046FAD4A-B6D4-4FC6-88AE-3475302F8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9398" y="824170"/>
            <a:ext cx="6007101" cy="776030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3.0: </a:t>
            </a:r>
            <a:r>
              <a:rPr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 Evaluation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7E49115-EC53-4C00-A605-098D46285E1C}"/>
              </a:ext>
            </a:extLst>
          </p:cNvPr>
          <p:cNvSpPr txBox="1">
            <a:spLocks/>
          </p:cNvSpPr>
          <p:nvPr/>
        </p:nvSpPr>
        <p:spPr>
          <a:xfrm>
            <a:off x="457200" y="1600201"/>
            <a:ext cx="8229600" cy="1600199"/>
          </a:xfrm>
          <a:prstGeom prst="rect">
            <a:avLst/>
          </a:prstGeom>
        </p:spPr>
        <p:txBody>
          <a:bodyPr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PSNR/SSIM/LPIPS for each masking strategy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typically yields sharper details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smooth but robust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90A080-77B8-4622-9CBE-A1C9015DE1FD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D5E220-E899-4A0A-9234-FC5FFF499BF7}"/>
              </a:ext>
            </a:extLst>
          </p:cNvPr>
          <p:cNvSpPr txBox="1"/>
          <p:nvPr/>
        </p:nvSpPr>
        <p:spPr>
          <a:xfrm>
            <a:off x="3529013" y="362505"/>
            <a:ext cx="4686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SECTION 3: 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AF588F-0B19-47B9-ACB2-98A555B5D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3071813"/>
            <a:ext cx="7272337" cy="29620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CD4B93-1F48-4F0D-B029-E15EF7A2A2E9}"/>
              </a:ext>
            </a:extLst>
          </p:cNvPr>
          <p:cNvSpPr txBox="1"/>
          <p:nvPr/>
        </p:nvSpPr>
        <p:spPr>
          <a:xfrm>
            <a:off x="1085850" y="6325672"/>
            <a:ext cx="96583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 3.0: Ground Truth vs Masked Images</a:t>
            </a:r>
          </a:p>
        </p:txBody>
      </p:sp>
    </p:spTree>
    <p:extLst>
      <p:ext uri="{BB962C8B-B14F-4D97-AF65-F5344CB8AC3E}">
        <p14:creationId xmlns:p14="http://schemas.microsoft.com/office/powerpoint/2010/main" val="1907342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479674" y="317715"/>
            <a:ext cx="6307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3.1: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Quantitative</a:t>
            </a:r>
            <a:r>
              <a:rPr dirty="0"/>
              <a:t>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136089"/>
              </p:ext>
            </p:extLst>
          </p:nvPr>
        </p:nvGraphicFramePr>
        <p:xfrm>
          <a:off x="365124" y="1253560"/>
          <a:ext cx="4229100" cy="273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8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02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0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8720">
                <a:tc>
                  <a:txBody>
                    <a:bodyPr/>
                    <a:lstStyle/>
                    <a:p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PSNR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SSIM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LPIPS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rPr dirty="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21.72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t>Gradient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7.63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0.731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5417">
                <a:tc>
                  <a:txBody>
                    <a:bodyPr/>
                    <a:lstStyle/>
                    <a:p>
                      <a:r>
                        <a:rPr dirty="0"/>
                        <a:t>Ray-Filter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0.740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Picture 4" descr="metrics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124" y="4163936"/>
            <a:ext cx="4229100" cy="18910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7E5F711-EB9D-47A6-97D7-8D6C5542839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887C37E-104C-4CD1-A52A-401AB2D3D1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938" y="1423450"/>
            <a:ext cx="6772275" cy="4505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F3583E-64A4-47C8-BED5-8C542D1CBCD9}"/>
              </a:ext>
            </a:extLst>
          </p:cNvPr>
          <p:cNvSpPr txBox="1"/>
          <p:nvPr/>
        </p:nvSpPr>
        <p:spPr>
          <a:xfrm>
            <a:off x="365124" y="802982"/>
            <a:ext cx="40941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Table 1: Evaluation Comparison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DE2A59-5186-4BB2-9C77-4311F3A02462}"/>
              </a:ext>
            </a:extLst>
          </p:cNvPr>
          <p:cNvSpPr txBox="1"/>
          <p:nvPr/>
        </p:nvSpPr>
        <p:spPr>
          <a:xfrm>
            <a:off x="185738" y="6230422"/>
            <a:ext cx="4514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3.1a: </a:t>
            </a:r>
            <a:r>
              <a:rPr lang="en-US" dirty="0" err="1"/>
              <a:t>Barchart</a:t>
            </a:r>
            <a:r>
              <a:rPr lang="en-US" dirty="0"/>
              <a:t> view per methods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4358F7-70A0-4E0E-A242-B0416C92E2B1}"/>
              </a:ext>
            </a:extLst>
          </p:cNvPr>
          <p:cNvSpPr txBox="1"/>
          <p:nvPr/>
        </p:nvSpPr>
        <p:spPr>
          <a:xfrm>
            <a:off x="5214939" y="6224412"/>
            <a:ext cx="6772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3.1b: </a:t>
            </a:r>
            <a:r>
              <a:rPr lang="en-US" dirty="0" err="1"/>
              <a:t>Barchart</a:t>
            </a:r>
            <a:r>
              <a:rPr lang="en-US" dirty="0"/>
              <a:t> view per methods and </a:t>
            </a:r>
            <a:r>
              <a:rPr lang="en-US" dirty="0" err="1"/>
              <a:t>Reconst</a:t>
            </a:r>
            <a:r>
              <a:rPr lang="en-US" dirty="0"/>
              <a:t>.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713791" y="335250"/>
            <a:ext cx="445961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3.2: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 Comparisons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613703"/>
            <a:ext cx="86582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/>
            </a:pPr>
            <a:r>
              <a:rPr lang="en-US" dirty="0"/>
              <a:t>Fig. 3.2 : </a:t>
            </a:r>
            <a:r>
              <a:rPr dirty="0"/>
              <a:t>Reconstructed images across strategies</a:t>
            </a:r>
            <a:r>
              <a:rPr lang="en-US" dirty="0"/>
              <a:t> training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1E3D88-DEA8-4D8D-8715-72DC275077A2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84F71CC-3353-42FE-BB15-1BB50C6CA2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981" y="920025"/>
            <a:ext cx="8423044" cy="4343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371974" y="457200"/>
            <a:ext cx="398621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3.3: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Insights</a:t>
            </a:r>
          </a:p>
        </p:txBody>
      </p:sp>
      <p:pic>
        <p:nvPicPr>
          <p:cNvPr id="4" name="Picture 3" descr="trainin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058400" cy="3657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631939-EB7C-4C6D-B5F9-306995514A93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153CC2-15E1-4462-918A-F1F25EE5B627}"/>
              </a:ext>
            </a:extLst>
          </p:cNvPr>
          <p:cNvSpPr txBox="1"/>
          <p:nvPr/>
        </p:nvSpPr>
        <p:spPr>
          <a:xfrm>
            <a:off x="2557463" y="5700713"/>
            <a:ext cx="7629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3.3: TRAINING Losses Across Strategies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77E7C-8180-4F6C-982A-B11DC71C0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943" y="452718"/>
            <a:ext cx="9402274" cy="690282"/>
          </a:xfrm>
        </p:spPr>
        <p:txBody>
          <a:bodyPr/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3.4: Limitations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26413A-BCA6-49FB-8A22-2505CDBFE92A}"/>
              </a:ext>
            </a:extLst>
          </p:cNvPr>
          <p:cNvSpPr txBox="1"/>
          <p:nvPr/>
        </p:nvSpPr>
        <p:spPr>
          <a:xfrm>
            <a:off x="1500188" y="1414463"/>
            <a:ext cx="841533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work was carried out using synthetic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depends on mask quality to achieve higher quality reconstruction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scene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7E78CD-42E2-4858-82C2-F86BCE97FD8E}"/>
              </a:ext>
            </a:extLst>
          </p:cNvPr>
          <p:cNvSpPr txBox="1"/>
          <p:nvPr/>
        </p:nvSpPr>
        <p:spPr>
          <a:xfrm>
            <a:off x="1632880" y="3938588"/>
            <a:ext cx="84153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hope to apply this knowledge to spontaneous robot data as obtained in the field or through experimentation.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1D94D5-9C70-4B39-AA88-3A5F146CFBE5}"/>
              </a:ext>
            </a:extLst>
          </p:cNvPr>
          <p:cNvSpPr txBox="1"/>
          <p:nvPr/>
        </p:nvSpPr>
        <p:spPr>
          <a:xfrm>
            <a:off x="2050256" y="3150156"/>
            <a:ext cx="7315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3.5: Future work</a:t>
            </a:r>
          </a:p>
        </p:txBody>
      </p:sp>
    </p:spTree>
    <p:extLst>
      <p:ext uri="{BB962C8B-B14F-4D97-AF65-F5344CB8AC3E}">
        <p14:creationId xmlns:p14="http://schemas.microsoft.com/office/powerpoint/2010/main" val="1704270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93456" y="457200"/>
            <a:ext cx="35647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3.6: </a:t>
            </a:r>
            <a:r>
              <a:rPr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687175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and ray filtering reduce dynamic object artifacts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hence their higher training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Baseline achieves highest metrics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do not remove artifacts, therefore the lower losses.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masking slightly better perceptually than ray filtering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keeps partial information.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2D masking improves 3DGS in dynamic scenes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 b="0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Ray filtering performs strongest suppression of artifacts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174D2-E9EE-4FE5-9244-F7681288980E}"/>
              </a:ext>
            </a:extLst>
          </p:cNvPr>
          <p:cNvSpPr txBox="1"/>
          <p:nvPr/>
        </p:nvSpPr>
        <p:spPr>
          <a:xfrm>
            <a:off x="9101138" y="243959"/>
            <a:ext cx="3043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ITMO UNIVERSITY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348</TotalTime>
  <Words>844</Words>
  <Application>Microsoft Office PowerPoint</Application>
  <PresentationFormat>Custom</PresentationFormat>
  <Paragraphs>140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Cambria Math</vt:lpstr>
      <vt:lpstr>Century Gothic</vt:lpstr>
      <vt:lpstr>Times New Roman</vt:lpstr>
      <vt:lpstr>Wingdings 3</vt:lpstr>
      <vt:lpstr>Ion</vt:lpstr>
      <vt:lpstr>ITMO UNIVERSITY  FACULTY OF CONTROL SYSTEMS AND ROBOTICS</vt:lpstr>
      <vt:lpstr>PowerPoint Presentation</vt:lpstr>
      <vt:lpstr> </vt:lpstr>
      <vt:lpstr>1.2 Problem Statement</vt:lpstr>
      <vt:lpstr>1.3: Brief on 3D Gaussian Splatting</vt:lpstr>
      <vt:lpstr>PowerPoint Presentation</vt:lpstr>
      <vt:lpstr>PowerPoint Presentation</vt:lpstr>
      <vt:lpstr>PowerPoint Presentation</vt:lpstr>
      <vt:lpstr>3.0: Quantitative Evaluation</vt:lpstr>
      <vt:lpstr>PowerPoint Presentation</vt:lpstr>
      <vt:lpstr>PowerPoint Presentation</vt:lpstr>
      <vt:lpstr>PowerPoint Presentation</vt:lpstr>
      <vt:lpstr>3.4: Limitations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Mandengs</cp:lastModifiedBy>
  <cp:revision>201</cp:revision>
  <dcterms:created xsi:type="dcterms:W3CDTF">2013-01-27T09:14:16Z</dcterms:created>
  <dcterms:modified xsi:type="dcterms:W3CDTF">2025-12-14T13:28:46Z</dcterms:modified>
  <cp:category/>
</cp:coreProperties>
</file>