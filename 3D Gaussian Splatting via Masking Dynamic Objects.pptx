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67" r:id="rId2"/>
    <p:sldId id="266" r:id="rId3"/>
    <p:sldId id="256" r:id="rId4"/>
    <p:sldId id="264" r:id="rId5"/>
    <p:sldId id="268" r:id="rId6"/>
    <p:sldId id="259" r:id="rId7"/>
    <p:sldId id="258" r:id="rId8"/>
    <p:sldId id="257" r:id="rId9"/>
    <p:sldId id="265" r:id="rId10"/>
    <p:sldId id="260" r:id="rId11"/>
    <p:sldId id="270" r:id="rId12"/>
    <p:sldId id="261" r:id="rId13"/>
    <p:sldId id="262" r:id="rId14"/>
    <p:sldId id="263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56" autoAdjust="0"/>
  </p:normalViewPr>
  <p:slideViewPr>
    <p:cSldViewPr snapToGrid="0" snapToObjects="1">
      <p:cViewPr varScale="1">
        <p:scale>
          <a:sx n="59" d="100"/>
          <a:sy n="59" d="100"/>
        </p:scale>
        <p:origin x="11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EC776-E625-468F-82D5-EE59A9E1DE4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7A8F3-6447-4D56-B1DA-1C35DDA8B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PSNR</a:t>
                </a:r>
                <a:r>
                  <a:rPr lang="en-US" dirty="0"/>
                  <a:t>_DEF: </a:t>
                </a:r>
                <a:r>
                  <a:rPr lang="en-US" sz="1200" dirty="0"/>
                  <a:t>L = maximum possible pixel value of the image (e.g., 1.0 if normalized, 255 if 8-bit)</a:t>
                </a:r>
              </a:p>
              <a:p>
                <a:r>
                  <a:rPr lang="en-US" sz="1200" b="1" dirty="0"/>
                  <a:t>MSE</a:t>
                </a:r>
                <a:r>
                  <a:rPr lang="en-US" sz="1200" dirty="0"/>
                  <a:t>=BTW predicted and ground truth images:</a:t>
                </a:r>
              </a:p>
              <a:p>
                <a:endParaRPr lang="en-US" sz="1200" dirty="0"/>
              </a:p>
              <a:p>
                <a:r>
                  <a:rPr lang="en-US" b="1" dirty="0"/>
                  <a:t>SSIM_DEF</a:t>
                </a:r>
                <a:r>
                  <a:rPr lang="en-US" dirty="0"/>
                  <a:t>: </a:t>
                </a:r>
                <a:r>
                  <a:rPr lang="en-US" sz="1200" b="1" dirty="0"/>
                  <a:t>x, y </a:t>
                </a:r>
                <a:r>
                  <a:rPr lang="en-US" sz="1200" dirty="0"/>
                  <a:t>= local patches of predicted and ground truth images</a:t>
                </a:r>
              </a:p>
              <a:p>
                <a:r>
                  <a:rPr lang="en-US" sz="1200" b="1" dirty="0" err="1"/>
                  <a:t>μx</a:t>
                </a:r>
                <a:r>
                  <a:rPr lang="en-US" sz="1200" b="1" dirty="0"/>
                  <a:t>​, </a:t>
                </a:r>
                <a:r>
                  <a:rPr lang="en-US" sz="1200" b="1" dirty="0" err="1"/>
                  <a:t>μy</a:t>
                </a:r>
                <a:r>
                  <a:rPr lang="en-US" sz="1200" dirty="0"/>
                  <a:t>​ = mean intensity of x and y</a:t>
                </a:r>
              </a:p>
              <a:p>
                <a:r>
                  <a:rPr lang="en-US" sz="1200" b="1" dirty="0"/>
                  <a:t>σx2​,σy2</a:t>
                </a:r>
                <a:r>
                  <a:rPr lang="en-US" sz="1200" dirty="0"/>
                  <a:t>​ = variance of x and y</a:t>
                </a:r>
              </a:p>
              <a:p>
                <a:r>
                  <a:rPr lang="en-US" sz="1200" b="1" dirty="0" err="1"/>
                  <a:t>σxy</a:t>
                </a:r>
                <a:r>
                  <a:rPr lang="en-US" sz="1200" dirty="0"/>
                  <a:t>​ = covariance between x and y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Others= Stabilization constants</a:t>
                </a:r>
              </a:p>
              <a:p>
                <a:endParaRPr lang="en-US" sz="1200" dirty="0"/>
              </a:p>
              <a:p>
                <a:r>
                  <a:rPr lang="en-US" b="1" dirty="0"/>
                  <a:t>LPIPS_DEF</a:t>
                </a:r>
                <a:r>
                  <a:rPr lang="en-US" dirty="0"/>
                  <a:t>: </a:t>
                </a:r>
                <a:r>
                  <a:rPr lang="en-US" sz="1200" i="1" dirty="0"/>
                  <a:t>x, y </a:t>
                </a:r>
                <a:r>
                  <a:rPr lang="en-US" sz="1200" dirty="0"/>
                  <a:t>= images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activations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pretrained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network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AlexNet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VGG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learned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channel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spatial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dimensions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PSNR</a:t>
                </a:r>
                <a:r>
                  <a:rPr lang="en-US" dirty="0"/>
                  <a:t>_DEF: </a:t>
                </a:r>
                <a:r>
                  <a:rPr lang="en-US" sz="1200" dirty="0"/>
                  <a:t>L = maximum possible pixel value of the image (e.g., 1.0 if normalized, 255 if 8-bit)</a:t>
                </a:r>
              </a:p>
              <a:p>
                <a:r>
                  <a:rPr lang="en-US" sz="1200" b="1" dirty="0"/>
                  <a:t>MSE</a:t>
                </a:r>
                <a:r>
                  <a:rPr lang="en-US" sz="1200" dirty="0"/>
                  <a:t>=BTW predicted and ground truth images:</a:t>
                </a:r>
              </a:p>
              <a:p>
                <a:endParaRPr lang="en-US" sz="1200" dirty="0"/>
              </a:p>
              <a:p>
                <a:r>
                  <a:rPr lang="en-US" b="1" dirty="0"/>
                  <a:t>SSIM_DEF</a:t>
                </a:r>
                <a:r>
                  <a:rPr lang="en-US" dirty="0"/>
                  <a:t>: </a:t>
                </a:r>
                <a:r>
                  <a:rPr lang="en-US" sz="1200" b="1" dirty="0"/>
                  <a:t>x, y </a:t>
                </a:r>
                <a:r>
                  <a:rPr lang="en-US" sz="1200" dirty="0"/>
                  <a:t>= local patches of predicted and ground truth images</a:t>
                </a:r>
              </a:p>
              <a:p>
                <a:r>
                  <a:rPr lang="en-US" sz="1200" b="1" dirty="0" err="1"/>
                  <a:t>μx</a:t>
                </a:r>
                <a:r>
                  <a:rPr lang="en-US" sz="1200" b="1" dirty="0"/>
                  <a:t>​, </a:t>
                </a:r>
                <a:r>
                  <a:rPr lang="en-US" sz="1200" b="1" dirty="0" err="1"/>
                  <a:t>μy</a:t>
                </a:r>
                <a:r>
                  <a:rPr lang="en-US" sz="1200" dirty="0"/>
                  <a:t>​ = mean intensity of x and y</a:t>
                </a:r>
              </a:p>
              <a:p>
                <a:r>
                  <a:rPr lang="en-US" sz="1200" b="1" dirty="0"/>
                  <a:t>σx2​,σy2</a:t>
                </a:r>
                <a:r>
                  <a:rPr lang="en-US" sz="1200" dirty="0"/>
                  <a:t>​ = variance of x and y</a:t>
                </a:r>
              </a:p>
              <a:p>
                <a:r>
                  <a:rPr lang="en-US" sz="1200" b="1" dirty="0" err="1"/>
                  <a:t>σxy</a:t>
                </a:r>
                <a:r>
                  <a:rPr lang="en-US" sz="1200" dirty="0"/>
                  <a:t>​ = covariance between x and y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Others= Stabilization constants</a:t>
                </a:r>
              </a:p>
              <a:p>
                <a:endParaRPr lang="en-US" sz="1200" dirty="0"/>
              </a:p>
              <a:p>
                <a:r>
                  <a:rPr lang="en-US" b="1" dirty="0"/>
                  <a:t>LPIPS_DEF</a:t>
                </a:r>
                <a:r>
                  <a:rPr lang="en-US" dirty="0"/>
                  <a:t>: </a:t>
                </a:r>
                <a:r>
                  <a:rPr lang="en-US" sz="1200" i="1" dirty="0"/>
                  <a:t>x, y </a:t>
                </a:r>
                <a:r>
                  <a:rPr lang="en-US" sz="1200" dirty="0"/>
                  <a:t>= images</a:t>
                </a:r>
              </a:p>
              <a:p>
                <a:r>
                  <a:rPr lang="en-US" sz="1200" i="0">
                    <a:latin typeface="Cambria Math" panose="02040503050406030204" pitchFamily="18" charset="0"/>
                  </a:rPr>
                  <a:t>𝑥 ̂^𝑙, 𝑦 ̂^𝑙</a:t>
                </a:r>
                <a:r>
                  <a:rPr lang="en-US" sz="1200" b="0" i="0">
                    <a:latin typeface="Cambria Math" panose="02040503050406030204" pitchFamily="18" charset="0"/>
                  </a:rPr>
                  <a:t>:</a:t>
                </a:r>
                <a:r>
                  <a:rPr lang="en-US" sz="1200" i="0">
                    <a:latin typeface="Cambria Math" panose="02040503050406030204" pitchFamily="18" charset="0"/>
                  </a:rPr>
                  <a:t>feature activations of a pretrained network (e.g., AlexNet, VGG) at layer 𝑙</a:t>
                </a:r>
                <a:endParaRPr lang="en-US" sz="1200" dirty="0"/>
              </a:p>
              <a:p>
                <a:pPr/>
                <a:r>
                  <a:rPr lang="en-US" sz="1200" i="0">
                    <a:latin typeface="Cambria Math" panose="02040503050406030204" pitchFamily="18" charset="0"/>
                  </a:rPr>
                  <a:t>𝑤_𝑙= learned per−channel weights for layer 𝑙</a:t>
                </a:r>
                <a:endParaRPr lang="en-US" sz="1200" dirty="0"/>
              </a:p>
              <a:p>
                <a:pPr/>
                <a:r>
                  <a:rPr lang="en-US" sz="1200" i="0">
                    <a:latin typeface="Cambria Math" panose="02040503050406030204" pitchFamily="18" charset="0"/>
                  </a:rPr>
                  <a:t>𝐻_𝑙, 𝑊_𝑙  = spatial dimensions of layer 𝑙</a:t>
                </a:r>
                <a:endParaRPr lang="en-US" sz="1200" dirty="0"/>
              </a:p>
              <a:p>
                <a:endParaRPr lang="en-US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1. </a:t>
            </a:r>
            <a:r>
              <a:rPr lang="en-US" sz="1200" b="1" dirty="0"/>
              <a:t>Gradient Masking (Loss Masking) </a:t>
            </a:r>
            <a:r>
              <a:rPr lang="en-US" sz="1200" dirty="0"/>
              <a:t>– Weight loss by (1-mask).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It down-weights masked pixels in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structural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Simpler to implement.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2</a:t>
            </a:r>
            <a:r>
              <a:rPr lang="en-US" sz="1200" b="1" dirty="0"/>
              <a:t>. Ray Filtering </a:t>
            </a:r>
            <a:r>
              <a:rPr lang="en-US" sz="1200" dirty="0"/>
              <a:t>– Discard rays passing through dynamic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Removes masked rays fully from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Higher PSNR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Sharper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3. </a:t>
            </a:r>
            <a:r>
              <a:rPr lang="en-US" sz="1200" b="1" dirty="0"/>
              <a:t>Baseline (unmasked) </a:t>
            </a:r>
            <a:r>
              <a:rPr lang="en-US" sz="1200" dirty="0"/>
              <a:t>- trains 3D Gaussian Splatting normally.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uses all pixels from all training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mask guidance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2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PSNR/SSIM/LPIPS for each masking strategy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filtering typically yields sharper details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smooth but robust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9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4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44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9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3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6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3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04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153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5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2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0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21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6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0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76AC-6832-44B8-97B2-15D2D8A2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75" y="395568"/>
            <a:ext cx="9402274" cy="2661957"/>
          </a:xfrm>
        </p:spPr>
        <p:txBody>
          <a:bodyPr/>
          <a:lstStyle/>
          <a:p>
            <a:pPr algn="ctr"/>
            <a:r>
              <a:rPr lang="en-US" dirty="0"/>
              <a:t>ITMO UNIVERSITY</a:t>
            </a:r>
            <a:br>
              <a:rPr lang="en-US" dirty="0"/>
            </a:br>
            <a:br>
              <a:rPr lang="en-US" dirty="0"/>
            </a:br>
            <a:r>
              <a:rPr lang="en-US" sz="2400" b="1" dirty="0"/>
              <a:t>FACULTY OF CONTROL SYSTEMS AND ROBOTICS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821AA7-39D4-4016-8849-EB85232ACE41}"/>
              </a:ext>
            </a:extLst>
          </p:cNvPr>
          <p:cNvSpPr txBox="1">
            <a:spLocks/>
          </p:cNvSpPr>
          <p:nvPr/>
        </p:nvSpPr>
        <p:spPr>
          <a:xfrm>
            <a:off x="1111768" y="3328989"/>
            <a:ext cx="10251038" cy="9429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/>
              <a:t>COURSE: MACHINE LEARNING IN ROBOTICS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64AAF7-BE46-4827-8B3C-C4B36474C4C1}"/>
              </a:ext>
            </a:extLst>
          </p:cNvPr>
          <p:cNvSpPr txBox="1">
            <a:spLocks/>
          </p:cNvSpPr>
          <p:nvPr/>
        </p:nvSpPr>
        <p:spPr>
          <a:xfrm>
            <a:off x="1393275" y="4414838"/>
            <a:ext cx="9402274" cy="17145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/>
              <a:t>INSTRUCTORS</a:t>
            </a:r>
          </a:p>
          <a:p>
            <a:pPr algn="ctr"/>
            <a:r>
              <a:rPr lang="en-US" sz="2400" dirty="0"/>
              <a:t>Professor S. </a:t>
            </a:r>
            <a:r>
              <a:rPr lang="en-US" sz="2400" dirty="0" err="1"/>
              <a:t>Kolyubin</a:t>
            </a:r>
            <a:endParaRPr lang="en-US" sz="2400" dirty="0"/>
          </a:p>
          <a:p>
            <a:pPr algn="ctr"/>
            <a:r>
              <a:rPr lang="en-US" sz="2400" dirty="0"/>
              <a:t>Professor A.A. </a:t>
            </a:r>
            <a:r>
              <a:rPr lang="en-US" sz="2400" dirty="0" err="1"/>
              <a:t>Vedyakov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146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215045-A8E7-468B-987F-D7256A7AEABD}"/>
              </a:ext>
            </a:extLst>
          </p:cNvPr>
          <p:cNvSpPr txBox="1">
            <a:spLocks/>
          </p:cNvSpPr>
          <p:nvPr/>
        </p:nvSpPr>
        <p:spPr>
          <a:xfrm>
            <a:off x="1224116" y="896963"/>
            <a:ext cx="9438968" cy="11557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Increasing the Robustness of 3D Gaussian Splatting via Masking Dynamic Objects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117071-5297-4063-9671-555869CD630A}"/>
              </a:ext>
            </a:extLst>
          </p:cNvPr>
          <p:cNvSpPr txBox="1">
            <a:spLocks/>
          </p:cNvSpPr>
          <p:nvPr/>
        </p:nvSpPr>
        <p:spPr>
          <a:xfrm>
            <a:off x="2005781" y="2200276"/>
            <a:ext cx="7095357" cy="344328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BY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486554_Mandengs C I</a:t>
            </a:r>
          </a:p>
          <a:p>
            <a:r>
              <a:rPr lang="en-US" dirty="0"/>
              <a:t>476149_Jacob </a:t>
            </a:r>
            <a:r>
              <a:rPr lang="en-US" dirty="0" err="1"/>
              <a:t>Ahemen</a:t>
            </a:r>
            <a:endParaRPr lang="en-US" dirty="0"/>
          </a:p>
          <a:p>
            <a:r>
              <a:rPr lang="en-US" dirty="0"/>
              <a:t>474343_Prince Alex</a:t>
            </a:r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December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CB245-DD5A-4CEE-B757-11EDEF63839F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</p:spTree>
    <p:extLst>
      <p:ext uri="{BB962C8B-B14F-4D97-AF65-F5344CB8AC3E}">
        <p14:creationId xmlns:p14="http://schemas.microsoft.com/office/powerpoint/2010/main" val="209589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85750"/>
            <a:ext cx="11329989" cy="154305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47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274838"/>
            <a:ext cx="107804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MOTIVATION</a:t>
            </a:r>
          </a:p>
          <a:p>
            <a:pPr algn="ctr">
              <a:defRPr sz="2400" b="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400" b="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400" dirty="0"/>
              <a:t>the robustness of image reconstruction in 3D Gaussian Splatting (3DGS) by masking (in 2D) the dynamic objects, since they introduce noise, instability, and artifacts.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4B8FB-968F-41E7-B7FD-FC1362B5926B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A3302-573F-404E-8038-024DE1C53E00}"/>
              </a:ext>
            </a:extLst>
          </p:cNvPr>
          <p:cNvSpPr txBox="1"/>
          <p:nvPr/>
        </p:nvSpPr>
        <p:spPr>
          <a:xfrm>
            <a:off x="2005781" y="357188"/>
            <a:ext cx="709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ONE: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B87D41-5D62-4FA6-A8E2-C560E214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249239"/>
            <a:ext cx="8229600" cy="83661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1.2 </a:t>
            </a:r>
            <a:r>
              <a:rPr sz="3200" b="1" dirty="0"/>
              <a:t>Problem </a:t>
            </a:r>
            <a:r>
              <a:rPr lang="en-US" sz="3200" b="1" dirty="0"/>
              <a:t>Statement</a:t>
            </a:r>
            <a:endParaRPr sz="32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01A276-B99E-4408-9C6B-1171A310BD24}"/>
              </a:ext>
            </a:extLst>
          </p:cNvPr>
          <p:cNvSpPr txBox="1">
            <a:spLocks/>
          </p:cNvSpPr>
          <p:nvPr/>
        </p:nvSpPr>
        <p:spPr>
          <a:xfrm>
            <a:off x="1514475" y="1600200"/>
            <a:ext cx="9886950" cy="345757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2400" dirty="0"/>
              <a:t>3DGS assumes static scenes – in reality, scenes are rarely static.</a:t>
            </a:r>
          </a:p>
          <a:p>
            <a:r>
              <a:rPr lang="en-US" sz="2400" dirty="0"/>
              <a:t>Dynamic objects introduce noise, instability, and artifacts.</a:t>
            </a:r>
          </a:p>
          <a:p>
            <a:r>
              <a:rPr lang="en-US" sz="2400" dirty="0"/>
              <a:t>The need to produce cleaner, more stable reconstructions that better capture the underlying static geometry, ultimately enhancing the practicality of 3DGS for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9DEB7-7595-438C-8FFC-5051851965F1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</p:spTree>
    <p:extLst>
      <p:ext uri="{BB962C8B-B14F-4D97-AF65-F5344CB8AC3E}">
        <p14:creationId xmlns:p14="http://schemas.microsoft.com/office/powerpoint/2010/main" val="104343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CC38-4841-411D-BD15-15B79C9F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64" y="152682"/>
            <a:ext cx="9402274" cy="633132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1.3: Brief on 3D Gaussian Splatting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5E39D-5E57-4C71-A541-FE5A914B5A0A}"/>
              </a:ext>
            </a:extLst>
          </p:cNvPr>
          <p:cNvSpPr txBox="1"/>
          <p:nvPr/>
        </p:nvSpPr>
        <p:spPr>
          <a:xfrm>
            <a:off x="1457325" y="1685925"/>
            <a:ext cx="9129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3D Gaussian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Splatting</a:t>
            </a:r>
            <a:r>
              <a:rPr lang="en-US" dirty="0"/>
              <a:t> (3DGS is a real-time radiance field rendering technique that represents a scene using a set of </a:t>
            </a:r>
            <a:r>
              <a:rPr lang="en-US" b="1" dirty="0"/>
              <a:t>anisotropic 3D Gaussians</a:t>
            </a:r>
            <a:r>
              <a:rPr lang="en-US" dirty="0"/>
              <a:t> instead of dense voxel grids or neural implicit fields.</a:t>
            </a:r>
          </a:p>
          <a:p>
            <a:endParaRPr lang="en-US" dirty="0"/>
          </a:p>
          <a:p>
            <a:r>
              <a:rPr lang="en-US" dirty="0"/>
              <a:t>Each Gaussian Stores: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3D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Covariance (size and orientation)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 (spherical harmonics)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View-dependent appearance features</a:t>
            </a:r>
          </a:p>
        </p:txBody>
      </p:sp>
    </p:spTree>
    <p:extLst>
      <p:ext uri="{BB962C8B-B14F-4D97-AF65-F5344CB8AC3E}">
        <p14:creationId xmlns:p14="http://schemas.microsoft.com/office/powerpoint/2010/main" val="327745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28715" y="147838"/>
            <a:ext cx="46151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23833" y="940151"/>
                <a:ext cx="8024961" cy="5812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PSNR(PEAK SIGNAL-TO-NOISE RATIO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 = (1/(HW)) </a:t>
                </a:r>
                <a:r>
                  <a:rPr lang="el-GR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(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I_ij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K_ij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)^2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PSNR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= better reconstruction</a:t>
                </a:r>
              </a:p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SSIM Formula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SSIM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(x, y)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luminance, contrast, structure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= more accurate</a:t>
                </a:r>
              </a:p>
              <a:p>
                <a:pPr algn="ctr">
                  <a:defRPr sz="2000" b="0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LPIPS Formula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  <a:defRPr sz="2000" b="0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LPIPS (x, y)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⊙(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</m:e>
                        </m:nary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)||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/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  <a:defRPr sz="2000" b="0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Feature-based perceptual similarity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= more perceptually similar</a:t>
                </a:r>
              </a:p>
              <a:p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833" y="940151"/>
                <a:ext cx="8024961" cy="5812873"/>
              </a:xfrm>
              <a:prstGeom prst="rect">
                <a:avLst/>
              </a:prstGeom>
              <a:blipFill>
                <a:blip r:embed="rId3"/>
                <a:stretch>
                  <a:fillRect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E95348C-9CE2-4ED3-94A9-48D76BC53E49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8F524-EF64-486C-B581-A9569C2993BF}"/>
              </a:ext>
            </a:extLst>
          </p:cNvPr>
          <p:cNvSpPr txBox="1"/>
          <p:nvPr/>
        </p:nvSpPr>
        <p:spPr>
          <a:xfrm>
            <a:off x="345039" y="1932342"/>
            <a:ext cx="355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maximum possible pixel value of the image (e.g., 1.0 if normalized, 255 if 8-bit)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=BTW predicted and ground truth images: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D1339-B66F-4D04-B75A-82876271582C}"/>
              </a:ext>
            </a:extLst>
          </p:cNvPr>
          <p:cNvSpPr txBox="1"/>
          <p:nvPr/>
        </p:nvSpPr>
        <p:spPr>
          <a:xfrm>
            <a:off x="8593288" y="2807470"/>
            <a:ext cx="33343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local patches of predicted and ground truth images</a:t>
            </a:r>
          </a:p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μx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​,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mean pixel intensity of x and y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σx2​,σy2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variance of x and y</a:t>
            </a:r>
          </a:p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σxy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covariance between x and y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Others= Stabilization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BBAEF-18FB-4A37-901F-C35A811D42E0}"/>
                  </a:ext>
                </a:extLst>
              </p:cNvPr>
              <p:cNvSpPr txBox="1"/>
              <p:nvPr/>
            </p:nvSpPr>
            <p:spPr>
              <a:xfrm>
                <a:off x="261237" y="4113223"/>
                <a:ext cx="3334300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images</a:t>
                </a: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activations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pretrained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network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AlexNet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VGG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learned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channel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spatial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dimensions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BBAEF-18FB-4A37-901F-C35A811D4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7" y="4113223"/>
                <a:ext cx="3334300" cy="1388329"/>
              </a:xfrm>
              <a:prstGeom prst="rect">
                <a:avLst/>
              </a:prstGeom>
              <a:blipFill>
                <a:blip r:embed="rId4"/>
                <a:stretch>
                  <a:fillRect l="-183" t="-441" r="-5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1068328"/>
            <a:ext cx="10015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2800" dirty="0"/>
              <a:t>2.0 Overview of Masking Strategies Employed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57250" y="1673573"/>
            <a:ext cx="95881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1. </a:t>
            </a:r>
            <a:r>
              <a:rPr sz="2000" b="1" dirty="0"/>
              <a:t>Gradient Masking</a:t>
            </a:r>
            <a:r>
              <a:rPr lang="en-US" sz="2000" b="1" dirty="0"/>
              <a:t> (Loss Masking)</a:t>
            </a:r>
            <a:r>
              <a:rPr sz="2000" b="1" dirty="0"/>
              <a:t> </a:t>
            </a:r>
            <a:r>
              <a:rPr sz="2000" dirty="0"/>
              <a:t>– Weight loss by (1-mask).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down-weights masked pixels in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structural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Simpler to implement.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/>
          </a:p>
          <a:p>
            <a:r>
              <a:rPr sz="2000" dirty="0"/>
              <a:t>2</a:t>
            </a:r>
            <a:r>
              <a:rPr sz="2000" b="1" dirty="0"/>
              <a:t>. Ray Filtering </a:t>
            </a:r>
            <a:r>
              <a:rPr sz="2000" dirty="0"/>
              <a:t>– Discard rays passing through dynamic regions.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Removes masked rays fully from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PSNR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Sharper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3. </a:t>
            </a:r>
            <a:r>
              <a:rPr lang="en-US" sz="2000" b="1" dirty="0"/>
              <a:t>Baseline (unmasked) </a:t>
            </a:r>
            <a:r>
              <a:rPr lang="en-US" sz="2000" dirty="0"/>
              <a:t>- trains 3D Gaussian Splatting normally.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uses all pixels from all training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mask guidance</a:t>
            </a:r>
          </a:p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2453A-565D-40E8-8A90-D6EFEAFC29E1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56AA7-C7A7-47A8-B461-9A83CB67AB8B}"/>
              </a:ext>
            </a:extLst>
          </p:cNvPr>
          <p:cNvSpPr txBox="1"/>
          <p:nvPr/>
        </p:nvSpPr>
        <p:spPr>
          <a:xfrm>
            <a:off x="3671888" y="320624"/>
            <a:ext cx="590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TWO: 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0B2AA-79FB-4C37-A047-219BF4AF2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3" y="1754477"/>
            <a:ext cx="11305495" cy="4792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28850" y="362606"/>
            <a:ext cx="6686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2.1: 2D MASKING IN 3DGS – why?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199" y="1371600"/>
            <a:ext cx="1124426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rPr lang="en-US" sz="2400" dirty="0"/>
              <a:t>Since d</a:t>
            </a:r>
            <a:r>
              <a:rPr sz="2400" dirty="0"/>
              <a:t>ynamic objects in scenes cause reconstruction artifacts in 3D Gaussian Splatting</a:t>
            </a:r>
            <a:r>
              <a:rPr lang="en-US" sz="2400" b="1" dirty="0"/>
              <a:t> </a:t>
            </a:r>
            <a:r>
              <a:rPr lang="en-US" sz="2400" dirty="0"/>
              <a:t>the goal of masking is to i</a:t>
            </a:r>
            <a:r>
              <a:rPr sz="2400" dirty="0"/>
              <a:t>mprove reconstruction fidelity using 2D semantic masks</a:t>
            </a:r>
            <a:r>
              <a:rPr lang="en-US" sz="2400" dirty="0"/>
              <a:t>.</a:t>
            </a:r>
          </a:p>
          <a:p>
            <a:pPr>
              <a:defRPr sz="2000" b="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 For 2D binary masks (1 = static, 0 = dynamic) integrated during training eliminates static artifact error while maintaining efficiency.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A261B-F9E9-4A48-80DD-57CDC16F64DF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751DA8-FCD6-4256-AA67-B534FBF1A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429000"/>
            <a:ext cx="9086850" cy="269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0184D0-2584-4838-A447-C7D770F5808A}"/>
              </a:ext>
            </a:extLst>
          </p:cNvPr>
          <p:cNvSpPr txBox="1"/>
          <p:nvPr/>
        </p:nvSpPr>
        <p:spPr>
          <a:xfrm>
            <a:off x="2110977" y="6126062"/>
            <a:ext cx="680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2.1 Demonstration of Masking: Artifacts are removed.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46FAD4A-B6D4-4FC6-88AE-3475302F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86" y="824170"/>
            <a:ext cx="5691413" cy="4667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3.0: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E49115-EC53-4C00-A605-098D46285E1C}"/>
              </a:ext>
            </a:extLst>
          </p:cNvPr>
          <p:cNvSpPr txBox="1">
            <a:spLocks/>
          </p:cNvSpPr>
          <p:nvPr/>
        </p:nvSpPr>
        <p:spPr>
          <a:xfrm>
            <a:off x="709840" y="2839115"/>
            <a:ext cx="4457700" cy="117977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PSNR/SSIM/LPIPS for each masking strategy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filtering typically yields sharper details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smooth but robust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0A080-77B8-4622-9CBE-A1C9015DE1FD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5E220-E899-4A0A-9234-FC5FFF499BF7}"/>
              </a:ext>
            </a:extLst>
          </p:cNvPr>
          <p:cNvSpPr txBox="1"/>
          <p:nvPr/>
        </p:nvSpPr>
        <p:spPr>
          <a:xfrm>
            <a:off x="3529013" y="362505"/>
            <a:ext cx="4686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3: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F588F-0B19-47B9-ACB2-98A555B5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" y="1467929"/>
            <a:ext cx="11201400" cy="52194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D4B93-1F48-4F0D-B029-E15EF7A2A2E9}"/>
              </a:ext>
            </a:extLst>
          </p:cNvPr>
          <p:cNvSpPr txBox="1"/>
          <p:nvPr/>
        </p:nvSpPr>
        <p:spPr>
          <a:xfrm>
            <a:off x="2171700" y="6218496"/>
            <a:ext cx="3396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3.0: Ground Truth vs Masked Images</a:t>
            </a:r>
          </a:p>
        </p:txBody>
      </p:sp>
    </p:spTree>
    <p:extLst>
      <p:ext uri="{BB962C8B-B14F-4D97-AF65-F5344CB8AC3E}">
        <p14:creationId xmlns:p14="http://schemas.microsoft.com/office/powerpoint/2010/main" val="190734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79674" y="317715"/>
            <a:ext cx="6307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</a:t>
            </a:r>
            <a:r>
              <a:rPr dirty="0"/>
              <a:t>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652479"/>
              </p:ext>
            </p:extLst>
          </p:nvPr>
        </p:nvGraphicFramePr>
        <p:xfrm>
          <a:off x="365124" y="1253561"/>
          <a:ext cx="11456762" cy="4801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8094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LPIPS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788">
                <a:tc>
                  <a:txBody>
                    <a:bodyPr/>
                    <a:lstStyle/>
                    <a:p>
                      <a:r>
                        <a:rPr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788">
                <a:tc>
                  <a:txBody>
                    <a:bodyPr/>
                    <a:lstStyle/>
                    <a:p>
                      <a:r>
                        <a:rPr dirty="0"/>
                        <a:t>Gradient</a:t>
                      </a:r>
                      <a:r>
                        <a:rPr lang="en-US" dirty="0"/>
                        <a:t> (</a:t>
                      </a:r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Loss-Mask)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788">
                <a:tc>
                  <a:txBody>
                    <a:bodyPr/>
                    <a:lstStyle/>
                    <a:p>
                      <a:r>
                        <a:rPr dirty="0"/>
                        <a:t>Ray-Filter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99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E5F711-EB9D-47A6-97D7-8D6C5542839E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3583E-64A4-47C8-BED5-8C542D1CBCD9}"/>
              </a:ext>
            </a:extLst>
          </p:cNvPr>
          <p:cNvSpPr txBox="1"/>
          <p:nvPr/>
        </p:nvSpPr>
        <p:spPr>
          <a:xfrm>
            <a:off x="365124" y="802982"/>
            <a:ext cx="409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3.1: Evaluation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AB55-150B-4652-9103-908533E4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20" y="9605"/>
            <a:ext cx="9402274" cy="886225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DDA5F-1406-407B-9A48-A5AD8B3B2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90" y="718457"/>
            <a:ext cx="9689824" cy="5453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E007C-A924-4798-8C4F-A8EB0CD4E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334" y="1094016"/>
            <a:ext cx="1913860" cy="886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7D2ED0-19A6-4CB0-BDDD-E0D4F736669F}"/>
              </a:ext>
            </a:extLst>
          </p:cNvPr>
          <p:cNvSpPr txBox="1"/>
          <p:nvPr/>
        </p:nvSpPr>
        <p:spPr>
          <a:xfrm>
            <a:off x="1410381" y="6230422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3.1: </a:t>
            </a:r>
            <a:r>
              <a:rPr lang="en-US" dirty="0" err="1"/>
              <a:t>Barchart</a:t>
            </a:r>
            <a:r>
              <a:rPr lang="en-US" dirty="0"/>
              <a:t> view per methods</a:t>
            </a:r>
          </a:p>
        </p:txBody>
      </p:sp>
    </p:spTree>
    <p:extLst>
      <p:ext uri="{BB962C8B-B14F-4D97-AF65-F5344CB8AC3E}">
        <p14:creationId xmlns:p14="http://schemas.microsoft.com/office/powerpoint/2010/main" val="8623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13791" y="335250"/>
            <a:ext cx="44596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337" y="5969091"/>
            <a:ext cx="7480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/>
            </a:pPr>
            <a:r>
              <a:rPr lang="en-US" dirty="0"/>
              <a:t>Fig. 3.2 : </a:t>
            </a:r>
            <a:r>
              <a:rPr dirty="0"/>
              <a:t>Reconstructed images across strategies</a:t>
            </a:r>
            <a:r>
              <a:rPr lang="en-US" dirty="0"/>
              <a:t> training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E3D88-DEA8-4D8D-8715-72DC275077A2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E0C4E-52E7-484B-ABB5-41428A0C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527705"/>
            <a:ext cx="5604556" cy="36974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5668B1-6063-4895-A3D6-7CC26B4AD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7" y="1527705"/>
            <a:ext cx="5437414" cy="36974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71974" y="457200"/>
            <a:ext cx="3986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Insights</a:t>
            </a:r>
          </a:p>
        </p:txBody>
      </p:sp>
      <p:pic>
        <p:nvPicPr>
          <p:cNvPr id="4" name="Picture 3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65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631939-EB7C-4C6D-B5F9-306995514A93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53CC2-15E1-4462-918A-F1F25EE5B627}"/>
              </a:ext>
            </a:extLst>
          </p:cNvPr>
          <p:cNvSpPr txBox="1"/>
          <p:nvPr/>
        </p:nvSpPr>
        <p:spPr>
          <a:xfrm>
            <a:off x="2557463" y="5700713"/>
            <a:ext cx="7629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3.3: TRAINING Losses Across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046" y="243959"/>
            <a:ext cx="3564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650" y="1100167"/>
            <a:ext cx="116871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and ray filtering reduce dynamic object artifacts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hence their higher training losses.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achieves highest metrics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do not remove artifacts, therefore the lower losses.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slightly better perceptually than ray 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keeps partial information.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masking improves 3DGS in dynamic scenes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filtering performs strongest suppression of artifacts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174D2-E9EE-4FE5-9244-F7681288980E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C71AD-0452-4680-ACE7-9AEF9790933A}"/>
              </a:ext>
            </a:extLst>
          </p:cNvPr>
          <p:cNvSpPr txBox="1"/>
          <p:nvPr/>
        </p:nvSpPr>
        <p:spPr>
          <a:xfrm>
            <a:off x="501650" y="2810865"/>
            <a:ext cx="8415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3.4: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was carried out using synthetic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depends on mask quality to achieve higher quality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scene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70C51-DCE4-45BA-AAE3-B5F32134557F}"/>
              </a:ext>
            </a:extLst>
          </p:cNvPr>
          <p:cNvSpPr txBox="1"/>
          <p:nvPr/>
        </p:nvSpPr>
        <p:spPr>
          <a:xfrm>
            <a:off x="501649" y="3938588"/>
            <a:ext cx="8415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3.5: Future work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hope to apply this knowledge to spontaneous robot data as obtained in the field or through experimentation.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501</TotalTime>
  <Words>1038</Words>
  <Application>Microsoft Office PowerPoint</Application>
  <PresentationFormat>Custom</PresentationFormat>
  <Paragraphs>173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Times New Roman</vt:lpstr>
      <vt:lpstr>Wingdings 3</vt:lpstr>
      <vt:lpstr>Ion</vt:lpstr>
      <vt:lpstr>ITMO UNIVERSITY  FACULTY OF CONTROL SYSTEMS AND ROBOTICS</vt:lpstr>
      <vt:lpstr>PowerPoint Presentation</vt:lpstr>
      <vt:lpstr> </vt:lpstr>
      <vt:lpstr>1.2 Problem Statement</vt:lpstr>
      <vt:lpstr>1.3: Brief on 3D Gaussian Splatting</vt:lpstr>
      <vt:lpstr>PowerPoint Presentation</vt:lpstr>
      <vt:lpstr>PowerPoint Presentation</vt:lpstr>
      <vt:lpstr>PowerPoint Presentation</vt:lpstr>
      <vt:lpstr>3.0: Quantitative Evaluation</vt:lpstr>
      <vt:lpstr>PowerPoint Presentation</vt:lpstr>
      <vt:lpstr>METRICS COMPARISON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Mandengs</cp:lastModifiedBy>
  <cp:revision>257</cp:revision>
  <dcterms:created xsi:type="dcterms:W3CDTF">2013-01-27T09:14:16Z</dcterms:created>
  <dcterms:modified xsi:type="dcterms:W3CDTF">2025-12-14T17:02:35Z</dcterms:modified>
  <cp:category/>
</cp:coreProperties>
</file>