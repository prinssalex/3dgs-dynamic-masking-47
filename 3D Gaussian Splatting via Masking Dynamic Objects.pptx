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67" r:id="rId2"/>
    <p:sldId id="266" r:id="rId3"/>
    <p:sldId id="256" r:id="rId4"/>
    <p:sldId id="264" r:id="rId5"/>
    <p:sldId id="268" r:id="rId6"/>
    <p:sldId id="259" r:id="rId7"/>
    <p:sldId id="258" r:id="rId8"/>
    <p:sldId id="257" r:id="rId9"/>
    <p:sldId id="265" r:id="rId10"/>
    <p:sldId id="270" r:id="rId11"/>
    <p:sldId id="262" r:id="rId12"/>
    <p:sldId id="263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056" autoAdjust="0"/>
  </p:normalViewPr>
  <p:slideViewPr>
    <p:cSldViewPr snapToGrid="0" snapToObjects="1">
      <p:cViewPr varScale="1">
        <p:scale>
          <a:sx n="59" d="100"/>
          <a:sy n="59" d="100"/>
        </p:scale>
        <p:origin x="115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BEC776-E625-468F-82D5-EE59A9E1DE4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27A8F3-6447-4D56-B1DA-1C35DDA8BB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474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PSNR</a:t>
                </a:r>
                <a:r>
                  <a:rPr lang="en-US" dirty="0"/>
                  <a:t>_DEF: </a:t>
                </a:r>
                <a:r>
                  <a:rPr lang="en-US" sz="1200" dirty="0"/>
                  <a:t>L = maximum possible pixel value of the image (e.g., 1.0 if normalized, 255 if 8-bit)</a:t>
                </a:r>
              </a:p>
              <a:p>
                <a:r>
                  <a:rPr lang="en-US" sz="1200" b="1" dirty="0"/>
                  <a:t>MSE</a:t>
                </a:r>
                <a:r>
                  <a:rPr lang="en-US" sz="1200" dirty="0"/>
                  <a:t>=BTW predicted and ground truth images:</a:t>
                </a:r>
              </a:p>
              <a:p>
                <a:endParaRPr lang="en-US" sz="1200" dirty="0"/>
              </a:p>
              <a:p>
                <a:r>
                  <a:rPr lang="en-US" b="1" dirty="0"/>
                  <a:t>SSIM_DEF</a:t>
                </a:r>
                <a:r>
                  <a:rPr lang="en-US" dirty="0"/>
                  <a:t>: </a:t>
                </a:r>
                <a:r>
                  <a:rPr lang="en-US" sz="1200" b="1" dirty="0"/>
                  <a:t>x, y </a:t>
                </a:r>
                <a:r>
                  <a:rPr lang="en-US" sz="1200" dirty="0"/>
                  <a:t>= local patches of predicted and ground truth images</a:t>
                </a:r>
              </a:p>
              <a:p>
                <a:r>
                  <a:rPr lang="en-US" sz="1200" b="1" dirty="0" err="1"/>
                  <a:t>μx</a:t>
                </a:r>
                <a:r>
                  <a:rPr lang="en-US" sz="1200" b="1" dirty="0"/>
                  <a:t>​, </a:t>
                </a:r>
                <a:r>
                  <a:rPr lang="en-US" sz="1200" b="1" dirty="0" err="1"/>
                  <a:t>μy</a:t>
                </a:r>
                <a:r>
                  <a:rPr lang="en-US" sz="1200" dirty="0"/>
                  <a:t>​ = mean intensity of x and y</a:t>
                </a:r>
              </a:p>
              <a:p>
                <a:r>
                  <a:rPr lang="en-US" sz="1200" b="1" dirty="0"/>
                  <a:t>σx2​,σy2</a:t>
                </a:r>
                <a:r>
                  <a:rPr lang="en-US" sz="1200" dirty="0"/>
                  <a:t>​ = variance of x and y</a:t>
                </a:r>
              </a:p>
              <a:p>
                <a:r>
                  <a:rPr lang="en-US" sz="1200" b="1" dirty="0" err="1"/>
                  <a:t>σxy</a:t>
                </a:r>
                <a:r>
                  <a:rPr lang="en-US" sz="1200" dirty="0"/>
                  <a:t>​ = covariance between x and y</a:t>
                </a:r>
              </a:p>
              <a:p>
                <a:endParaRPr lang="en-US" sz="1200" dirty="0"/>
              </a:p>
              <a:p>
                <a:r>
                  <a:rPr lang="en-US" sz="1200" dirty="0"/>
                  <a:t>Others= Stabilization constants</a:t>
                </a:r>
              </a:p>
              <a:p>
                <a:endParaRPr lang="en-US" sz="1200" dirty="0"/>
              </a:p>
              <a:p>
                <a:r>
                  <a:rPr lang="en-US" b="1" dirty="0"/>
                  <a:t>LPIPS_DEF</a:t>
                </a:r>
                <a:r>
                  <a:rPr lang="en-US" dirty="0"/>
                  <a:t>: </a:t>
                </a:r>
                <a:r>
                  <a:rPr lang="en-US" sz="1200" i="1" dirty="0"/>
                  <a:t>x, y </a:t>
                </a:r>
                <a:r>
                  <a:rPr lang="en-US" sz="1200" dirty="0"/>
                  <a:t>= images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feature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activations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pretrained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network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AlexNet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VGG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learned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channel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weights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spatial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dimensions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/>
              </a:p>
              <a:p>
                <a:endParaRPr lang="en-US" sz="12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PSNR</a:t>
                </a:r>
                <a:r>
                  <a:rPr lang="en-US" dirty="0"/>
                  <a:t>_DEF: </a:t>
                </a:r>
                <a:r>
                  <a:rPr lang="en-US" sz="1200" dirty="0"/>
                  <a:t>L = maximum possible pixel value of the image (e.g., 1.0 if normalized, 255 if 8-bit)</a:t>
                </a:r>
              </a:p>
              <a:p>
                <a:r>
                  <a:rPr lang="en-US" sz="1200" b="1" dirty="0"/>
                  <a:t>MSE</a:t>
                </a:r>
                <a:r>
                  <a:rPr lang="en-US" sz="1200" dirty="0"/>
                  <a:t>=BTW predicted and ground truth images:</a:t>
                </a:r>
              </a:p>
              <a:p>
                <a:endParaRPr lang="en-US" sz="1200" dirty="0"/>
              </a:p>
              <a:p>
                <a:r>
                  <a:rPr lang="en-US" b="1" dirty="0"/>
                  <a:t>SSIM_DEF</a:t>
                </a:r>
                <a:r>
                  <a:rPr lang="en-US" dirty="0"/>
                  <a:t>: </a:t>
                </a:r>
                <a:r>
                  <a:rPr lang="en-US" sz="1200" b="1" dirty="0"/>
                  <a:t>x, y </a:t>
                </a:r>
                <a:r>
                  <a:rPr lang="en-US" sz="1200" dirty="0"/>
                  <a:t>= local patches of predicted and ground truth images</a:t>
                </a:r>
              </a:p>
              <a:p>
                <a:r>
                  <a:rPr lang="en-US" sz="1200" b="1" dirty="0" err="1"/>
                  <a:t>μx</a:t>
                </a:r>
                <a:r>
                  <a:rPr lang="en-US" sz="1200" b="1" dirty="0"/>
                  <a:t>​, </a:t>
                </a:r>
                <a:r>
                  <a:rPr lang="en-US" sz="1200" b="1" dirty="0" err="1"/>
                  <a:t>μy</a:t>
                </a:r>
                <a:r>
                  <a:rPr lang="en-US" sz="1200" dirty="0"/>
                  <a:t>​ = mean intensity of x and y</a:t>
                </a:r>
              </a:p>
              <a:p>
                <a:r>
                  <a:rPr lang="en-US" sz="1200" b="1" dirty="0"/>
                  <a:t>σx2​,σy2</a:t>
                </a:r>
                <a:r>
                  <a:rPr lang="en-US" sz="1200" dirty="0"/>
                  <a:t>​ = variance of x and y</a:t>
                </a:r>
              </a:p>
              <a:p>
                <a:r>
                  <a:rPr lang="en-US" sz="1200" b="1" dirty="0" err="1"/>
                  <a:t>σxy</a:t>
                </a:r>
                <a:r>
                  <a:rPr lang="en-US" sz="1200" dirty="0"/>
                  <a:t>​ = covariance between x and y</a:t>
                </a:r>
              </a:p>
              <a:p>
                <a:endParaRPr lang="en-US" sz="1200" dirty="0"/>
              </a:p>
              <a:p>
                <a:r>
                  <a:rPr lang="en-US" sz="1200" dirty="0"/>
                  <a:t>Others= Stabilization constants</a:t>
                </a:r>
              </a:p>
              <a:p>
                <a:endParaRPr lang="en-US" sz="1200" dirty="0"/>
              </a:p>
              <a:p>
                <a:r>
                  <a:rPr lang="en-US" b="1" dirty="0"/>
                  <a:t>LPIPS_DEF</a:t>
                </a:r>
                <a:r>
                  <a:rPr lang="en-US" dirty="0"/>
                  <a:t>: </a:t>
                </a:r>
                <a:r>
                  <a:rPr lang="en-US" sz="1200" i="1" dirty="0"/>
                  <a:t>x, y </a:t>
                </a:r>
                <a:r>
                  <a:rPr lang="en-US" sz="1200" dirty="0"/>
                  <a:t>= images</a:t>
                </a:r>
              </a:p>
              <a:p>
                <a:r>
                  <a:rPr lang="en-US" sz="1200" i="0">
                    <a:latin typeface="Cambria Math" panose="02040503050406030204" pitchFamily="18" charset="0"/>
                  </a:rPr>
                  <a:t>𝑥 ̂^𝑙, 𝑦 ̂^𝑙</a:t>
                </a:r>
                <a:r>
                  <a:rPr lang="en-US" sz="1200" b="0" i="0">
                    <a:latin typeface="Cambria Math" panose="02040503050406030204" pitchFamily="18" charset="0"/>
                  </a:rPr>
                  <a:t>:</a:t>
                </a:r>
                <a:r>
                  <a:rPr lang="en-US" sz="1200" i="0">
                    <a:latin typeface="Cambria Math" panose="02040503050406030204" pitchFamily="18" charset="0"/>
                  </a:rPr>
                  <a:t>feature activations of a pretrained network (e.g., AlexNet, VGG) at layer 𝑙</a:t>
                </a:r>
                <a:endParaRPr lang="en-US" sz="1200" dirty="0"/>
              </a:p>
              <a:p>
                <a:pPr/>
                <a:r>
                  <a:rPr lang="en-US" sz="1200" i="0">
                    <a:latin typeface="Cambria Math" panose="02040503050406030204" pitchFamily="18" charset="0"/>
                  </a:rPr>
                  <a:t>𝑤_𝑙= learned per−channel weights for layer 𝑙</a:t>
                </a:r>
                <a:endParaRPr lang="en-US" sz="1200" dirty="0"/>
              </a:p>
              <a:p>
                <a:pPr/>
                <a:r>
                  <a:rPr lang="en-US" sz="1200" i="0">
                    <a:latin typeface="Cambria Math" panose="02040503050406030204" pitchFamily="18" charset="0"/>
                  </a:rPr>
                  <a:t>𝐻_𝑙, 𝑊_𝑙  = spatial dimensions of layer 𝑙</a:t>
                </a:r>
                <a:endParaRPr lang="en-US" sz="1200" dirty="0"/>
              </a:p>
              <a:p>
                <a:endParaRPr lang="en-US" sz="120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4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1. </a:t>
            </a:r>
            <a:r>
              <a:rPr lang="en-US" sz="1200" b="1" dirty="0"/>
              <a:t>Gradient Masking (Loss Masking) </a:t>
            </a:r>
            <a:r>
              <a:rPr lang="en-US" sz="1200" dirty="0"/>
              <a:t>– Weight loss by (1-mask).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It down-weights masked pixels in loss.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Maintains structural integrity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Simpler to implement.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dirty="0"/>
              <a:t>2</a:t>
            </a:r>
            <a:r>
              <a:rPr lang="en-US" sz="1200" b="1" dirty="0"/>
              <a:t>. Ray Filtering </a:t>
            </a:r>
            <a:r>
              <a:rPr lang="en-US" sz="1200" dirty="0"/>
              <a:t>– Discard rays passing through dynamic regions.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Removes masked rays fully from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Higher PSNR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Sharper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dirty="0"/>
              <a:t>3. </a:t>
            </a:r>
            <a:r>
              <a:rPr lang="en-US" sz="1200" b="1" dirty="0"/>
              <a:t>Baseline (unmasked) </a:t>
            </a:r>
            <a:r>
              <a:rPr lang="en-US" sz="1200" dirty="0"/>
              <a:t>- trains 3D Gaussian Splatting normally.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200" dirty="0"/>
              <a:t>uses all pixels from all training images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No mask guidance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542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PSNR/SSIM/LPIPS for each masking strategy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typically yields sharper details</a:t>
            </a:r>
          </a:p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smooth but robust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299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654" y="1447801"/>
            <a:ext cx="8823360" cy="3329581"/>
          </a:xfrm>
        </p:spPr>
        <p:txBody>
          <a:bodyPr anchor="b"/>
          <a:lstStyle>
            <a:lvl1pPr>
              <a:defRPr sz="71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654" y="4777380"/>
            <a:ext cx="8823360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44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63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2861734"/>
            <a:ext cx="8823359" cy="1915647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0" cy="860400"/>
          </a:xfrm>
        </p:spPr>
        <p:txBody>
          <a:bodyPr anchor="t"/>
          <a:lstStyle>
            <a:lvl1pPr marL="0" indent="0" algn="l">
              <a:buNone/>
              <a:defRPr sz="1999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41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025" y="2060576"/>
            <a:ext cx="4395194" cy="4195763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3021" y="2056093"/>
            <a:ext cx="4395196" cy="4200245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827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6" y="1905000"/>
            <a:ext cx="439519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025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3023" y="1905000"/>
            <a:ext cx="439519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3023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02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793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3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2" y="1447800"/>
            <a:ext cx="3400178" cy="1447800"/>
          </a:xfrm>
        </p:spPr>
        <p:txBody>
          <a:bodyPr anchor="b"/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3370" y="1447800"/>
            <a:ext cx="5194644" cy="4572000"/>
          </a:xfrm>
        </p:spPr>
        <p:txBody>
          <a:bodyPr anchor="ctr">
            <a:normAutofit/>
          </a:bodyPr>
          <a:lstStyle>
            <a:lvl1pPr>
              <a:defRPr sz="1999"/>
            </a:lvl1pPr>
            <a:lvl2pPr>
              <a:defRPr sz="1799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3" y="3129281"/>
            <a:ext cx="3400177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60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606" y="1854192"/>
            <a:ext cx="5091580" cy="1574808"/>
          </a:xfrm>
        </p:spPr>
        <p:txBody>
          <a:bodyPr anchor="b">
            <a:normAutofit/>
          </a:bodyPr>
          <a:lstStyle>
            <a:lvl1pPr algn="l">
              <a:defRPr sz="35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7736" y="1143000"/>
            <a:ext cx="3199567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5083655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30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4800587"/>
            <a:ext cx="8823359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654" y="685800"/>
            <a:ext cx="8823360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5" y="5367325"/>
            <a:ext cx="882335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4" y="1447800"/>
            <a:ext cx="8823361" cy="1981200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8823361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9044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391" y="1447800"/>
            <a:ext cx="7997232" cy="2323374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29898" y="3771174"/>
            <a:ext cx="7277753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4350657"/>
            <a:ext cx="8823361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061" y="971253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8060" y="2613787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30153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3" y="3124201"/>
            <a:ext cx="8823362" cy="1653180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1" cy="860400"/>
          </a:xfrm>
        </p:spPr>
        <p:txBody>
          <a:bodyPr anchor="t"/>
          <a:lstStyle>
            <a:lvl1pPr marL="0" indent="0" algn="l">
              <a:buNone/>
              <a:defRPr sz="1999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513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782" y="1981200"/>
            <a:ext cx="294609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293" y="2667000"/>
            <a:ext cx="292658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2648" y="1981200"/>
            <a:ext cx="2935476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2097" y="2667000"/>
            <a:ext cx="2946027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1981200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2845" y="2667000"/>
            <a:ext cx="2931349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820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293" y="4250949"/>
            <a:ext cx="293928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293" y="2209800"/>
            <a:ext cx="2939284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293" y="4827212"/>
            <a:ext cx="2939284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8363" y="4250949"/>
            <a:ext cx="2929762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8362" y="2209800"/>
            <a:ext cx="292976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7009" y="4827211"/>
            <a:ext cx="293364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4250949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2844" y="2209800"/>
            <a:ext cx="2931349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2720" y="4827209"/>
            <a:ext cx="293523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015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213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2050" y="430214"/>
            <a:ext cx="1752145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294" y="887414"/>
            <a:ext cx="7421216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69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6"/>
            <a:ext cx="4035961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8"/>
            <a:ext cx="1522016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6770" y="1676400"/>
            <a:ext cx="2818666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7330" y="1"/>
            <a:ext cx="1602969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3637" y="6096000"/>
            <a:ext cx="993475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5094" y="0"/>
            <a:ext cx="685621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5943" y="452718"/>
            <a:ext cx="9402274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5" y="2052919"/>
            <a:ext cx="894421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2866" y="1790741"/>
            <a:ext cx="990599" cy="30472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48740" y="3225337"/>
            <a:ext cx="3859795" cy="3047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49844" y="295730"/>
            <a:ext cx="837981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799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002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4199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999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799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524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7" Type="http://schemas.openxmlformats.org/officeDocument/2006/relationships/image" Target="../media/image9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8.png"/><Relationship Id="rId5" Type="http://schemas.openxmlformats.org/officeDocument/2006/relationships/slideLayout" Target="../slideLayouts/slideLayout6.xml"/><Relationship Id="rId4" Type="http://schemas.openxmlformats.org/officeDocument/2006/relationships/video" Target="../media/media2.mp4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476AC-6832-44B8-97B2-15D2D8A22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275" y="395568"/>
            <a:ext cx="9402274" cy="2661957"/>
          </a:xfrm>
        </p:spPr>
        <p:txBody>
          <a:bodyPr/>
          <a:lstStyle/>
          <a:p>
            <a:pPr algn="ctr"/>
            <a:r>
              <a:rPr lang="en-US" dirty="0"/>
              <a:t>ITMO UNIVERSITY</a:t>
            </a:r>
            <a:br>
              <a:rPr lang="en-US" dirty="0"/>
            </a:br>
            <a:br>
              <a:rPr lang="en-US" dirty="0"/>
            </a:br>
            <a:r>
              <a:rPr lang="en-US" sz="2400" b="1" dirty="0"/>
              <a:t>FACULTY OF CONTROL SYSTEMS AND ROBOTICS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B821AA7-39D4-4016-8849-EB85232ACE41}"/>
              </a:ext>
            </a:extLst>
          </p:cNvPr>
          <p:cNvSpPr txBox="1">
            <a:spLocks/>
          </p:cNvSpPr>
          <p:nvPr/>
        </p:nvSpPr>
        <p:spPr>
          <a:xfrm>
            <a:off x="1111768" y="3328989"/>
            <a:ext cx="10251038" cy="9429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COURSE: MACHINE LEARNING IN ROBOTICS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164AAF7-BE46-4827-8B3C-C4B36474C4C1}"/>
              </a:ext>
            </a:extLst>
          </p:cNvPr>
          <p:cNvSpPr txBox="1">
            <a:spLocks/>
          </p:cNvSpPr>
          <p:nvPr/>
        </p:nvSpPr>
        <p:spPr>
          <a:xfrm>
            <a:off x="1393275" y="4414838"/>
            <a:ext cx="9402274" cy="17145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INSTRUCTORS</a:t>
            </a:r>
          </a:p>
          <a:p>
            <a:pPr algn="ctr"/>
            <a:r>
              <a:rPr lang="en-US" sz="2400" dirty="0"/>
              <a:t>Professor S. </a:t>
            </a:r>
            <a:r>
              <a:rPr lang="en-US" sz="2400" dirty="0" err="1"/>
              <a:t>Kolyubin</a:t>
            </a:r>
            <a:endParaRPr lang="en-US" sz="2400" dirty="0"/>
          </a:p>
          <a:p>
            <a:pPr algn="ctr"/>
            <a:r>
              <a:rPr lang="en-US" sz="2400" dirty="0"/>
              <a:t>Professor A.A. </a:t>
            </a:r>
            <a:r>
              <a:rPr lang="en-US" sz="2400" dirty="0" err="1"/>
              <a:t>Vedyakov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61469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B215045-A8E7-468B-987F-D7256A7AEABD}"/>
              </a:ext>
            </a:extLst>
          </p:cNvPr>
          <p:cNvSpPr txBox="1">
            <a:spLocks/>
          </p:cNvSpPr>
          <p:nvPr/>
        </p:nvSpPr>
        <p:spPr>
          <a:xfrm>
            <a:off x="1224116" y="1214731"/>
            <a:ext cx="9438968" cy="115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Increasing the Robustness of 3D Gaussian Splatting via Masking Dynamic Objects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7117071-5297-4063-9671-555869CD630A}"/>
              </a:ext>
            </a:extLst>
          </p:cNvPr>
          <p:cNvSpPr txBox="1">
            <a:spLocks/>
          </p:cNvSpPr>
          <p:nvPr/>
        </p:nvSpPr>
        <p:spPr>
          <a:xfrm>
            <a:off x="2546733" y="2571111"/>
            <a:ext cx="7095357" cy="3443286"/>
          </a:xfrm>
          <a:prstGeom prst="rect">
            <a:avLst/>
          </a:prstGeom>
        </p:spPr>
        <p:txBody>
          <a:bodyPr>
            <a:normAutofit fontScale="4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BY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4400" dirty="0"/>
              <a:t>486554_Mandengs C I</a:t>
            </a:r>
          </a:p>
          <a:p>
            <a:pPr marL="0" indent="0" algn="ctr">
              <a:lnSpc>
                <a:spcPct val="170000"/>
              </a:lnSpc>
              <a:buNone/>
            </a:pPr>
            <a:r>
              <a:rPr lang="en-US" sz="4400" dirty="0"/>
              <a:t>476149_Jacob </a:t>
            </a:r>
            <a:r>
              <a:rPr lang="en-US" sz="4400" dirty="0" err="1"/>
              <a:t>Ahemen</a:t>
            </a:r>
            <a:endParaRPr lang="en-US" sz="4400" dirty="0"/>
          </a:p>
          <a:p>
            <a:pPr marL="0" indent="0" algn="ctr">
              <a:lnSpc>
                <a:spcPct val="170000"/>
              </a:lnSpc>
              <a:buNone/>
            </a:pPr>
            <a:r>
              <a:rPr lang="en-US" sz="4400" dirty="0"/>
              <a:t>474343_Prince Alex</a:t>
            </a:r>
          </a:p>
          <a:p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marL="0" indent="0" algn="ctr">
              <a:buNone/>
            </a:pPr>
            <a:r>
              <a:rPr lang="en-US" b="1" dirty="0"/>
              <a:t>December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1CB245-DD5A-4CEE-B757-11EDEF63839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2095891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85750"/>
            <a:ext cx="11329989" cy="1543050"/>
          </a:xfrm>
        </p:spPr>
        <p:txBody>
          <a:bodyPr>
            <a:normAutofit/>
          </a:bodyPr>
          <a:lstStyle/>
          <a:p>
            <a:br>
              <a:rPr lang="en-US" dirty="0"/>
            </a:b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47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1046113"/>
            <a:ext cx="1078042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 MOTIVATION</a:t>
            </a: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r>
              <a:rPr lang="en-US" sz="2400" dirty="0">
                <a:latin typeface="Century Gothic" panose="020B0502020202020204" pitchFamily="34" charset="0"/>
                <a:cs typeface="Times New Roman" panose="02020603050405020304" pitchFamily="18" charset="0"/>
              </a:rPr>
              <a:t>Improvement of </a:t>
            </a:r>
            <a:r>
              <a:rPr lang="en-US" sz="2400" dirty="0"/>
              <a:t>the robustness of image reconstruction in 3D Gaussian Splatting (3DGS) by masking (in 2D) the dynamic objects, since they introduce noise, instability, and artifacts.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14B8FB-968F-41E7-B7FD-FC1362B5926B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6A3302-573F-404E-8038-024DE1C53E00}"/>
              </a:ext>
            </a:extLst>
          </p:cNvPr>
          <p:cNvSpPr txBox="1"/>
          <p:nvPr/>
        </p:nvSpPr>
        <p:spPr>
          <a:xfrm>
            <a:off x="2756932" y="343284"/>
            <a:ext cx="7095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ONE: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6B87D41-5D62-4FA6-A8E2-C560E214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9612" y="249239"/>
            <a:ext cx="8229600" cy="83661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/>
              <a:t>1.2 </a:t>
            </a:r>
            <a:r>
              <a:rPr sz="3200" b="1" dirty="0"/>
              <a:t>Problem </a:t>
            </a:r>
            <a:r>
              <a:rPr lang="en-US" sz="3200" b="1" dirty="0"/>
              <a:t>Statement</a:t>
            </a:r>
            <a:endParaRPr sz="3200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01A276-B99E-4408-9C6B-1171A310BD24}"/>
              </a:ext>
            </a:extLst>
          </p:cNvPr>
          <p:cNvSpPr txBox="1">
            <a:spLocks/>
          </p:cNvSpPr>
          <p:nvPr/>
        </p:nvSpPr>
        <p:spPr>
          <a:xfrm>
            <a:off x="1285875" y="1969532"/>
            <a:ext cx="9886950" cy="3233057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/>
              <a:t>3DGS assumes static scenes – in reality, scenes are rarely static.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/>
              <a:t>Dynamic objects introduce noise, instability, and artifacts.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/>
              <a:t>The need to produce cleaner, more stable reconstructions that better capture the underlying static geometry, ultimately enhancing the practicality of 3DGS for applications.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79DEB7-7595-438C-8FFC-5051851965F1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1043436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CC38-4841-411D-BD15-15B79C9F7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4764" y="203710"/>
            <a:ext cx="9402274" cy="633132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1.3: Brief on 3D Gaussian Splatting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5E39D-5E57-4C71-A541-FE5A914B5A0A}"/>
              </a:ext>
            </a:extLst>
          </p:cNvPr>
          <p:cNvSpPr txBox="1"/>
          <p:nvPr/>
        </p:nvSpPr>
        <p:spPr>
          <a:xfrm>
            <a:off x="1457325" y="1685925"/>
            <a:ext cx="912971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3D Gaussian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Splatting</a:t>
            </a:r>
            <a:r>
              <a:rPr lang="en-US" sz="2400" dirty="0"/>
              <a:t> (3DGS is a real-time radiance field rendering technique that represents a scene using a set of </a:t>
            </a:r>
            <a:r>
              <a:rPr lang="en-US" sz="2400" b="1" dirty="0"/>
              <a:t>anisotropic 3D Gaussians</a:t>
            </a:r>
            <a:r>
              <a:rPr lang="en-US" sz="2400" dirty="0"/>
              <a:t> instead of dense voxel grids or neural implicit fields.</a:t>
            </a:r>
          </a:p>
          <a:p>
            <a:endParaRPr lang="en-US" sz="2400" dirty="0"/>
          </a:p>
          <a:p>
            <a:r>
              <a:rPr lang="en-US" sz="2400" dirty="0"/>
              <a:t>Each Gaussian Stores: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3D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Covariance (size and orientation)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Color (spherical harmonics)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Opacity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View-dependent appearance features</a:t>
            </a:r>
          </a:p>
        </p:txBody>
      </p:sp>
    </p:spTree>
    <p:extLst>
      <p:ext uri="{BB962C8B-B14F-4D97-AF65-F5344CB8AC3E}">
        <p14:creationId xmlns:p14="http://schemas.microsoft.com/office/powerpoint/2010/main" val="3277453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828715" y="147838"/>
            <a:ext cx="46151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123833" y="940151"/>
                <a:ext cx="8024961" cy="5812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PSNR(PEAK SIGNAL-TO-NOISE RATIO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MSE = (1/(HW)) </a:t>
                </a:r>
                <a:r>
                  <a:rPr lang="el-GR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Σ (</a:t>
                </a:r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I_ij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− </a:t>
                </a:r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K_ij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)^2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𝑀𝑆𝐸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 = better reconstruction</a:t>
                </a:r>
              </a:p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 Formula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(x, y)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(2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Measures luminance, contrast, structure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 = more accurate</a:t>
                </a:r>
              </a:p>
              <a:p>
                <a:pPr algn="ctr">
                  <a:defRPr sz="2000" b="0"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Formula</a:t>
                </a: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(x, y)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  <m:sup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||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⊙(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p>
                            </m:sSub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</m:e>
                        </m:nary>
                      </m:e>
                    </m:nary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)||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/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Feature-based perceptual similarity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Lower = more perceptually similar</a:t>
                </a:r>
              </a:p>
              <a:p>
                <a:endParaRPr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833" y="940151"/>
                <a:ext cx="8024961" cy="5812873"/>
              </a:xfrm>
              <a:prstGeom prst="rect">
                <a:avLst/>
              </a:prstGeom>
              <a:blipFill>
                <a:blip r:embed="rId3"/>
                <a:stretch>
                  <a:fillRect t="-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E95348C-9CE2-4ED3-94A9-48D76BC53E49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8F524-EF64-486C-B581-A9569C2993BF}"/>
              </a:ext>
            </a:extLst>
          </p:cNvPr>
          <p:cNvSpPr txBox="1"/>
          <p:nvPr/>
        </p:nvSpPr>
        <p:spPr>
          <a:xfrm>
            <a:off x="345039" y="1932342"/>
            <a:ext cx="35575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 = maximum possible pixel value of the image (e.g., 1.0 if normalized, 255 if 8-bit)</a:t>
            </a:r>
          </a:p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=BTW predicted and ground truth images: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D1339-B66F-4D04-B75A-82876271582C}"/>
              </a:ext>
            </a:extLst>
          </p:cNvPr>
          <p:cNvSpPr txBox="1"/>
          <p:nvPr/>
        </p:nvSpPr>
        <p:spPr>
          <a:xfrm>
            <a:off x="8593288" y="2807470"/>
            <a:ext cx="33343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x, y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local patches of predicted and ground truth images</a:t>
            </a:r>
          </a:p>
          <a:p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μx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​,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 = mean pixel intensity of x and y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σx2​,σy2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 = variance of x and y</a:t>
            </a:r>
          </a:p>
          <a:p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σxy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 = covariance between x and y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Others= Stabilization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/>
              <p:nvPr/>
            </p:nvSpPr>
            <p:spPr>
              <a:xfrm>
                <a:off x="261237" y="4113223"/>
                <a:ext cx="3334300" cy="1388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 y </a:t>
                </a: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images</a:t>
                </a:r>
              </a:p>
              <a:p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feature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activations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pretrained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network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.,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AlexNet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VGG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at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learned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per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channel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weights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spatial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dimensions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237" y="4113223"/>
                <a:ext cx="3334300" cy="1388329"/>
              </a:xfrm>
              <a:prstGeom prst="rect">
                <a:avLst/>
              </a:prstGeom>
              <a:blipFill>
                <a:blip r:embed="rId4"/>
                <a:stretch>
                  <a:fillRect l="-183" t="-441" r="-58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1068328"/>
            <a:ext cx="10015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2800" dirty="0"/>
              <a:t>2.0 Overview of Masking Strategies Employed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857250" y="1673573"/>
            <a:ext cx="958819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/>
              <a:t>1. </a:t>
            </a:r>
            <a:r>
              <a:rPr sz="2000" b="1" dirty="0"/>
              <a:t>Gradient Masking</a:t>
            </a:r>
            <a:r>
              <a:rPr lang="en-US" sz="2000" b="1" dirty="0"/>
              <a:t> (Loss Masking)</a:t>
            </a:r>
            <a:r>
              <a:rPr sz="2000" b="1" dirty="0"/>
              <a:t> </a:t>
            </a:r>
            <a:r>
              <a:rPr sz="2000" dirty="0"/>
              <a:t>– Weight loss by (1-mask).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It down-weights masked pixels in loss.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Maintains structural integrity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Simpler to implement.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sz="2000" dirty="0"/>
          </a:p>
          <a:p>
            <a:r>
              <a:rPr sz="2000" dirty="0"/>
              <a:t>2</a:t>
            </a:r>
            <a:r>
              <a:rPr sz="2000" b="1" dirty="0"/>
              <a:t>. Ray Filtering </a:t>
            </a:r>
            <a:r>
              <a:rPr sz="2000" dirty="0"/>
              <a:t>– Discard rays passing through dynamic regions.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Removes masked rays fully from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Higher PSNR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Sharper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dirty="0"/>
              <a:t>3. </a:t>
            </a:r>
            <a:r>
              <a:rPr lang="en-US" sz="2000" b="1" dirty="0"/>
              <a:t>Baseline (unmasked) </a:t>
            </a:r>
            <a:r>
              <a:rPr lang="en-US" sz="2000" dirty="0"/>
              <a:t>- trains 3D Gaussian Splatting normally.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uses all pixels from all training images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No mask guidance</a:t>
            </a:r>
          </a:p>
          <a:p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2453A-565D-40E8-8A90-D6EFEAFC29E1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356AA7-C7A7-47A8-B461-9A83CB67AB8B}"/>
              </a:ext>
            </a:extLst>
          </p:cNvPr>
          <p:cNvSpPr txBox="1"/>
          <p:nvPr/>
        </p:nvSpPr>
        <p:spPr>
          <a:xfrm>
            <a:off x="3671888" y="320624"/>
            <a:ext cx="5900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TWO: METHODS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40B2AA-79FB-4C37-A047-219BF4AF2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843" y="1754477"/>
            <a:ext cx="11305495" cy="47926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228850" y="362606"/>
            <a:ext cx="668655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2.1: 2D MASKING IN 3DGS – why?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199" y="1371600"/>
            <a:ext cx="11244263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rPr lang="en-US" sz="2000" dirty="0"/>
              <a:t>Since d</a:t>
            </a:r>
            <a:r>
              <a:rPr sz="2000" dirty="0"/>
              <a:t>ynamic objects in scenes cause reconstruction artifacts in 3D Gaussian Splatting</a:t>
            </a:r>
            <a:r>
              <a:rPr lang="en-US" sz="2000" b="1" dirty="0"/>
              <a:t> </a:t>
            </a:r>
            <a:r>
              <a:rPr lang="en-US" sz="2000" dirty="0"/>
              <a:t>the goal of masking is to i</a:t>
            </a:r>
            <a:r>
              <a:rPr sz="2000" dirty="0"/>
              <a:t>mprove reconstruction fidelity using 2D semantic masks</a:t>
            </a:r>
            <a:r>
              <a:rPr lang="en-US" sz="2000" dirty="0"/>
              <a:t>.</a:t>
            </a:r>
          </a:p>
          <a:p>
            <a:pPr>
              <a:defRPr sz="2000" b="0"/>
            </a:pPr>
            <a:endParaRPr lang="en-US" sz="2400" dirty="0"/>
          </a:p>
          <a:p>
            <a:pPr>
              <a:defRPr sz="2000" b="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Hypothesis: For 2D binary masks (1 = static, 0 = dynamic) integrated during training eliminates static artifact error while maintaining efficiency.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FA261B-F9E9-4A48-80DD-57CDC16F64D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7" name="images">
            <a:hlinkClick r:id="" action="ppaction://media"/>
            <a:extLst>
              <a:ext uri="{FF2B5EF4-FFF2-40B4-BE49-F238E27FC236}">
                <a16:creationId xmlns:a16="http://schemas.microsoft.com/office/drawing/2014/main" id="{D3C1D9DD-AAEE-4BCE-975F-30C03329B1C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451229" y="3329797"/>
            <a:ext cx="3902528" cy="2775353"/>
          </a:xfrm>
          <a:prstGeom prst="rect">
            <a:avLst/>
          </a:prstGeom>
        </p:spPr>
      </p:pic>
      <p:pic>
        <p:nvPicPr>
          <p:cNvPr id="8" name="mask">
            <a:hlinkClick r:id="" action="ppaction://media"/>
            <a:extLst>
              <a:ext uri="{FF2B5EF4-FFF2-40B4-BE49-F238E27FC236}">
                <a16:creationId xmlns:a16="http://schemas.microsoft.com/office/drawing/2014/main" id="{3873CAAD-D88A-44DA-95B1-F46FDF00E390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421085" y="3344960"/>
            <a:ext cx="4039282" cy="27753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ADF6B8-7274-4A2E-AA7B-49DE180D65DA}"/>
              </a:ext>
            </a:extLst>
          </p:cNvPr>
          <p:cNvSpPr txBox="1"/>
          <p:nvPr/>
        </p:nvSpPr>
        <p:spPr>
          <a:xfrm>
            <a:off x="1043240" y="6370576"/>
            <a:ext cx="862103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/>
            </a:pPr>
            <a:r>
              <a:rPr lang="en-US" dirty="0"/>
              <a:t>Fig. 2.1 : Image ground truth  and masked image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4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84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584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4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vol="80000">
                <p:cTn id="15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0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21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46FAD4A-B6D4-4FC6-88AE-3475302F8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5086" y="824170"/>
            <a:ext cx="5691413" cy="466734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3.0: </a:t>
            </a: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 Evaluation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7E49115-EC53-4C00-A605-098D46285E1C}"/>
              </a:ext>
            </a:extLst>
          </p:cNvPr>
          <p:cNvSpPr txBox="1">
            <a:spLocks/>
          </p:cNvSpPr>
          <p:nvPr/>
        </p:nvSpPr>
        <p:spPr>
          <a:xfrm>
            <a:off x="709840" y="2839115"/>
            <a:ext cx="4457700" cy="117977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PSNR/SSIM/LPIPS for each masking strategy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typically yields sharper details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smooth but robust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0A080-77B8-4622-9CBE-A1C9015DE1FD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D5E220-E899-4A0A-9234-FC5FFF499BF7}"/>
              </a:ext>
            </a:extLst>
          </p:cNvPr>
          <p:cNvSpPr txBox="1"/>
          <p:nvPr/>
        </p:nvSpPr>
        <p:spPr>
          <a:xfrm>
            <a:off x="3529013" y="362505"/>
            <a:ext cx="4686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3: RESULTS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AF588F-0B19-47B9-ACB2-98A555B5D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92" y="1467929"/>
            <a:ext cx="11201400" cy="52194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CD4B93-1F48-4F0D-B029-E15EF7A2A2E9}"/>
              </a:ext>
            </a:extLst>
          </p:cNvPr>
          <p:cNvSpPr txBox="1"/>
          <p:nvPr/>
        </p:nvSpPr>
        <p:spPr>
          <a:xfrm>
            <a:off x="2171700" y="6218496"/>
            <a:ext cx="3396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Fig 3.0: Ground Truth vs Masked Images</a:t>
            </a:r>
          </a:p>
        </p:txBody>
      </p:sp>
    </p:spTree>
    <p:extLst>
      <p:ext uri="{BB962C8B-B14F-4D97-AF65-F5344CB8AC3E}">
        <p14:creationId xmlns:p14="http://schemas.microsoft.com/office/powerpoint/2010/main" val="1907342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0AB55-150B-4652-9103-908533E4E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9920" y="9605"/>
            <a:ext cx="9402274" cy="886225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3.1: Quantitative Results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 Comparison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7DDA5F-1406-407B-9A48-A5AD8B3B2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14" y="1054530"/>
            <a:ext cx="9534248" cy="53661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BE007C-A924-4798-8C4F-A8EB0CD4E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4664" y="1537128"/>
            <a:ext cx="1913860" cy="8862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7D2ED0-19A6-4CB0-BDDD-E0D4F736669F}"/>
              </a:ext>
            </a:extLst>
          </p:cNvPr>
          <p:cNvSpPr txBox="1"/>
          <p:nvPr/>
        </p:nvSpPr>
        <p:spPr>
          <a:xfrm>
            <a:off x="1410381" y="6410041"/>
            <a:ext cx="4514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3.1: Bar chart view per methods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B8E3CF8-1AD8-46E3-99DE-C94FFB0CE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7777513"/>
              </p:ext>
            </p:extLst>
          </p:nvPr>
        </p:nvGraphicFramePr>
        <p:xfrm>
          <a:off x="7882080" y="4119270"/>
          <a:ext cx="4196444" cy="2285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9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7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2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2653">
                <a:tc>
                  <a:txBody>
                    <a:bodyPr/>
                    <a:lstStyle/>
                    <a:p>
                      <a:r>
                        <a:rPr dirty="0"/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PSNR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SSIM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LPIPS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239">
                <a:tc>
                  <a:txBody>
                    <a:bodyPr/>
                    <a:lstStyle/>
                    <a:p>
                      <a:r>
                        <a:rPr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799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9.05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799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0.784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799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0.506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756">
                <a:tc>
                  <a:txBody>
                    <a:bodyPr/>
                    <a:lstStyle/>
                    <a:p>
                      <a:r>
                        <a:rPr dirty="0"/>
                        <a:t>Gradient</a:t>
                      </a:r>
                      <a:r>
                        <a:rPr lang="en-US" dirty="0"/>
                        <a:t> (</a:t>
                      </a:r>
                      <a:r>
                        <a:rPr lang="en-US" sz="1799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Loss-Mask)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799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18.35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799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0.88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799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0.08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280">
                <a:tc>
                  <a:txBody>
                    <a:bodyPr/>
                    <a:lstStyle/>
                    <a:p>
                      <a:r>
                        <a:rPr dirty="0"/>
                        <a:t>Ray-Filter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799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9.04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799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0.740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9A3FED8-1FC3-444A-B020-9D6A7E5E609B}"/>
              </a:ext>
            </a:extLst>
          </p:cNvPr>
          <p:cNvSpPr txBox="1"/>
          <p:nvPr/>
        </p:nvSpPr>
        <p:spPr>
          <a:xfrm>
            <a:off x="7668183" y="6426370"/>
            <a:ext cx="409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 3.1: Evaluation Comparison</a:t>
            </a:r>
          </a:p>
        </p:txBody>
      </p:sp>
    </p:spTree>
    <p:extLst>
      <p:ext uri="{BB962C8B-B14F-4D97-AF65-F5344CB8AC3E}">
        <p14:creationId xmlns:p14="http://schemas.microsoft.com/office/powerpoint/2010/main" val="86238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371974" y="457200"/>
            <a:ext cx="39862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Insights</a:t>
            </a:r>
          </a:p>
        </p:txBody>
      </p:sp>
      <p:pic>
        <p:nvPicPr>
          <p:cNvPr id="4" name="Picture 3" descr="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058400" cy="3657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631939-EB7C-4C6D-B5F9-306995514A93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153CC2-15E1-4462-918A-F1F25EE5B627}"/>
              </a:ext>
            </a:extLst>
          </p:cNvPr>
          <p:cNvSpPr txBox="1"/>
          <p:nvPr/>
        </p:nvSpPr>
        <p:spPr>
          <a:xfrm>
            <a:off x="2557463" y="5700713"/>
            <a:ext cx="7629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3.2: TRAINING Losses Across Strategies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312046" y="243959"/>
            <a:ext cx="35647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3.6: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1651" y="1100167"/>
            <a:ext cx="1099366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and ray filtering reduce dynamic object artifacts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hence their higher training losses.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achieves highest metrics 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do not remove artifacts, therefore the lower losses.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slightly better perceptually than ray filtering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but keeps partial information.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2D masking improves 3DGS in dynamic scenes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performs strongest suppression of artifacts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174D2-E9EE-4FE5-9244-F7681288980E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1C71AD-0452-4680-ACE7-9AEF9790933A}"/>
              </a:ext>
            </a:extLst>
          </p:cNvPr>
          <p:cNvSpPr txBox="1"/>
          <p:nvPr/>
        </p:nvSpPr>
        <p:spPr>
          <a:xfrm>
            <a:off x="501651" y="3164150"/>
            <a:ext cx="1118552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3.4: Limitations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work was carried out using synthetic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depends on mask quality to achieve higher quality reconstruction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scene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070C51-DCE4-45BA-AAE3-B5F32134557F}"/>
              </a:ext>
            </a:extLst>
          </p:cNvPr>
          <p:cNvSpPr txBox="1"/>
          <p:nvPr/>
        </p:nvSpPr>
        <p:spPr>
          <a:xfrm>
            <a:off x="685800" y="4822218"/>
            <a:ext cx="11001377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3.5: Future work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 could explore learning the masks end-to-end and combining them with dynamic DGS or anti-aliased, artifact-free splatting to further improve robustness in complex real-world scenes. 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535</TotalTime>
  <Words>1032</Words>
  <Application>Microsoft Office PowerPoint</Application>
  <PresentationFormat>Custom</PresentationFormat>
  <Paragraphs>171</Paragraphs>
  <Slides>12</Slides>
  <Notes>3</Notes>
  <HiddenSlides>0</HiddenSlides>
  <MMClips>2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Cambria Math</vt:lpstr>
      <vt:lpstr>Century Gothic</vt:lpstr>
      <vt:lpstr>Times New Roman</vt:lpstr>
      <vt:lpstr>Wingdings</vt:lpstr>
      <vt:lpstr>Wingdings 3</vt:lpstr>
      <vt:lpstr>Ion</vt:lpstr>
      <vt:lpstr>ITMO UNIVERSITY  FACULTY OF CONTROL SYSTEMS AND ROBOTICS</vt:lpstr>
      <vt:lpstr>PowerPoint Presentation</vt:lpstr>
      <vt:lpstr> </vt:lpstr>
      <vt:lpstr>1.2 Problem Statement</vt:lpstr>
      <vt:lpstr>1.3: Brief on 3D Gaussian Splatting</vt:lpstr>
      <vt:lpstr>PowerPoint Presentation</vt:lpstr>
      <vt:lpstr>PowerPoint Presentation</vt:lpstr>
      <vt:lpstr>PowerPoint Presentation</vt:lpstr>
      <vt:lpstr>3.0: Quantitative Evaluation</vt:lpstr>
      <vt:lpstr>3.1: Quantitative Results Metrics Comparison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Mandengs</cp:lastModifiedBy>
  <cp:revision>261</cp:revision>
  <dcterms:created xsi:type="dcterms:W3CDTF">2013-01-27T09:14:16Z</dcterms:created>
  <dcterms:modified xsi:type="dcterms:W3CDTF">2025-12-14T18:10:30Z</dcterms:modified>
  <cp:category/>
</cp:coreProperties>
</file>