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67" r:id="rId2"/>
    <p:sldId id="266" r:id="rId3"/>
    <p:sldId id="268" r:id="rId4"/>
    <p:sldId id="256" r:id="rId5"/>
    <p:sldId id="264" r:id="rId6"/>
    <p:sldId id="271" r:id="rId7"/>
    <p:sldId id="259" r:id="rId8"/>
    <p:sldId id="257" r:id="rId9"/>
    <p:sldId id="265" r:id="rId10"/>
    <p:sldId id="270" r:id="rId11"/>
    <p:sldId id="272" r:id="rId12"/>
    <p:sldId id="263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21" autoAdjust="0"/>
  </p:normalViewPr>
  <p:slideViewPr>
    <p:cSldViewPr snapToGrid="0" snapToObjects="1">
      <p:cViewPr varScale="1">
        <p:scale>
          <a:sx n="58" d="100"/>
          <a:sy n="58" d="100"/>
        </p:scale>
        <p:origin x="1194" y="66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EC776-E625-468F-82D5-EE59A9E1DE4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27A8F3-6447-4D56-B1DA-1C35DDA8BB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74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3D Gaussian Splatting reconstructs 3D scenes very well when everything is static, but in real environments moving objects (people, cars, robot arms) cause ghosting, smearing, and unstable geometry.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3D Gaussian Splatting (3DGS) is a state‑of‑the‑art real‑time 3D reconstruction method now widely deployed in robotics (manipulation, localization), AR/VR applications, and SLAM systems. For robots operating in real environments—factory floors, collaborative workspaces, outdoor navigation—the need for fast, accurate scene reconstruction is paramount. Yet 3DGS has a fundamental limitation: it assumes the scene is static throughout capture. This assumption is violated whenever robots, people, or other moving agents appear in the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878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project asks whether using simple 2D masks to ignore those dynamic pixels during training can make standard 3DGS robust enough for cleaner static reconstructions in robotics and similar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744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7969C-3B49-20C0-99EE-1C852647A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8F451-06C3-C0CC-52D5-B4B080E3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75556-ED4F-E387-2EB9-F887AB57E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1. </a:t>
            </a:r>
            <a:r>
              <a:rPr lang="en-US" sz="1200" b="1" dirty="0"/>
              <a:t>Gradient Masking (Loss Masking) </a:t>
            </a:r>
            <a:r>
              <a:rPr lang="en-US" sz="1200" dirty="0"/>
              <a:t>– Weight loss by (1-mask).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It down-weights masked pixels in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Maintains structural integrity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Simpler to implement.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2</a:t>
            </a:r>
            <a:r>
              <a:rPr lang="en-US" sz="1200" b="1" dirty="0"/>
              <a:t>. Ray Filtering </a:t>
            </a:r>
            <a:r>
              <a:rPr lang="en-US" sz="1200" dirty="0"/>
              <a:t>– Discard rays passing through dynamic regions.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Higher PSNR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Sharper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3. </a:t>
            </a:r>
            <a:r>
              <a:rPr lang="en-US" sz="1200" b="1" dirty="0"/>
              <a:t>Baseline (unmasked) </a:t>
            </a:r>
            <a:r>
              <a:rPr lang="en-US" sz="1200" dirty="0"/>
              <a:t>- trains 3D Gaussian Splatting normally.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dirty="0"/>
              <a:t>uses all pixels from all training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No mask guidance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CBD0B-5B70-944D-E932-61A7E91F80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36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r>
                  <a:rPr lang="en-US" sz="1200" i="0">
                    <a:latin typeface="Cambria Math" panose="02040503050406030204" pitchFamily="18" charset="0"/>
                  </a:rPr>
                  <a:t>𝑥 ̂^𝑙, 𝑦 ̂^𝑙</a:t>
                </a:r>
                <a:r>
                  <a:rPr lang="en-US" sz="1200" b="0" i="0">
                    <a:latin typeface="Cambria Math" panose="02040503050406030204" pitchFamily="18" charset="0"/>
                  </a:rPr>
                  <a:t>:</a:t>
                </a:r>
                <a:r>
                  <a:rPr lang="en-US" sz="1200" i="0">
                    <a:latin typeface="Cambria Math" panose="02040503050406030204" pitchFamily="18" charset="0"/>
                  </a:rPr>
                  <a:t>feature activations of a pretrained network (e.g., AlexNet, VGG) at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𝑤_𝑙= learned per−channel weights for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𝐻_𝑙, 𝑊_𝑙  = spatial dimensions of layer 𝑙</a:t>
                </a:r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4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299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629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42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2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02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93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3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60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3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04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0153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5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01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1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6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02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microsoft.com/office/2007/relationships/media" Target="../media/media2.mp4"/><Relationship Id="rId7" Type="http://schemas.openxmlformats.org/officeDocument/2006/relationships/image" Target="../media/image11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ML%20in%20Robotics%20202510/RECONSTRUCTED%20MASKED%20IMAGES.png" TargetMode="External"/><Relationship Id="rId5" Type="http://schemas.openxmlformats.org/officeDocument/2006/relationships/slideLayout" Target="../slideLayouts/slideLayout6.xml"/><Relationship Id="rId4" Type="http://schemas.openxmlformats.org/officeDocument/2006/relationships/video" Target="../media/media2.mp4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L%20in%20Robotics%20202510/Metric%20Eval2.p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ML%20in%20Robotics%20202510/OVERALL%20COMPARISON.png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476AC-6832-44B8-97B2-15D2D8A2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275" y="395568"/>
            <a:ext cx="9402274" cy="2661957"/>
          </a:xfrm>
        </p:spPr>
        <p:txBody>
          <a:bodyPr/>
          <a:lstStyle/>
          <a:p>
            <a:pPr algn="ctr"/>
            <a:r>
              <a:rPr lang="en-US" dirty="0"/>
              <a:t>ITMO UNIVERSITY</a:t>
            </a:r>
            <a:br>
              <a:rPr lang="en-US" dirty="0"/>
            </a:br>
            <a:br>
              <a:rPr lang="en-US" dirty="0"/>
            </a:br>
            <a:r>
              <a:rPr lang="en-US" sz="2400" b="1" dirty="0"/>
              <a:t>FACULTY OF CONTROL SYSTEMS AND ROBOTICS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821AA7-39D4-4016-8849-EB85232ACE41}"/>
              </a:ext>
            </a:extLst>
          </p:cNvPr>
          <p:cNvSpPr txBox="1">
            <a:spLocks/>
          </p:cNvSpPr>
          <p:nvPr/>
        </p:nvSpPr>
        <p:spPr>
          <a:xfrm>
            <a:off x="1111768" y="3328989"/>
            <a:ext cx="10251038" cy="9429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COURSE: MACHINE LEARNING IN ROBOTICS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64AAF7-BE46-4827-8B3C-C4B36474C4C1}"/>
              </a:ext>
            </a:extLst>
          </p:cNvPr>
          <p:cNvSpPr txBox="1">
            <a:spLocks/>
          </p:cNvSpPr>
          <p:nvPr/>
        </p:nvSpPr>
        <p:spPr>
          <a:xfrm>
            <a:off x="1393275" y="4414838"/>
            <a:ext cx="9402274" cy="17145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INSTRUCTORS</a:t>
            </a:r>
          </a:p>
          <a:p>
            <a:pPr algn="ctr"/>
            <a:r>
              <a:rPr lang="en-US" sz="2400" dirty="0"/>
              <a:t>Professor S. </a:t>
            </a:r>
            <a:r>
              <a:rPr lang="en-US" sz="2400" dirty="0" err="1"/>
              <a:t>Kolyubin</a:t>
            </a:r>
            <a:endParaRPr lang="en-US" sz="2400" dirty="0"/>
          </a:p>
          <a:p>
            <a:pPr algn="ctr"/>
            <a:r>
              <a:rPr lang="en-US" sz="2400" dirty="0"/>
              <a:t>Professor A.A. </a:t>
            </a:r>
            <a:r>
              <a:rPr lang="en-US" sz="2400" dirty="0" err="1"/>
              <a:t>Vedyakov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146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B215045-A8E7-468B-987F-D7256A7AEABD}"/>
              </a:ext>
            </a:extLst>
          </p:cNvPr>
          <p:cNvSpPr txBox="1">
            <a:spLocks/>
          </p:cNvSpPr>
          <p:nvPr/>
        </p:nvSpPr>
        <p:spPr>
          <a:xfrm>
            <a:off x="1224116" y="1214731"/>
            <a:ext cx="9438968" cy="115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Research on Increasing the Robustness of 3D Gaussian Splatting via Masking Dynamic Objects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117071-5297-4063-9671-555869CD630A}"/>
              </a:ext>
            </a:extLst>
          </p:cNvPr>
          <p:cNvSpPr txBox="1">
            <a:spLocks/>
          </p:cNvSpPr>
          <p:nvPr/>
        </p:nvSpPr>
        <p:spPr>
          <a:xfrm>
            <a:off x="2546733" y="2571111"/>
            <a:ext cx="7095357" cy="3443286"/>
          </a:xfrm>
          <a:prstGeom prst="rect">
            <a:avLst/>
          </a:prstGeom>
        </p:spPr>
        <p:txBody>
          <a:bodyPr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486554_Mandengs C I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476149_Jacob </a:t>
            </a:r>
            <a:r>
              <a:rPr lang="en-US" sz="4400" dirty="0" err="1"/>
              <a:t>Ahemen</a:t>
            </a:r>
            <a:endParaRPr lang="en-US" sz="4400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474343_Prince Alex</a:t>
            </a:r>
          </a:p>
          <a:p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marL="0" indent="0" algn="ctr">
              <a:buNone/>
            </a:pPr>
            <a:r>
              <a:rPr lang="en-US" b="1" dirty="0"/>
              <a:t>December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CB245-DD5A-4CEE-B757-11EDEF63839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2095891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CC38-4841-411D-BD15-15B79C9F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64" y="753291"/>
            <a:ext cx="9402274" cy="633132"/>
          </a:xfrm>
        </p:spPr>
        <p:txBody>
          <a:bodyPr/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1.1: 3D Gaussian Splatting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5E39D-5E57-4C71-A541-FE5A914B5A0A}"/>
              </a:ext>
            </a:extLst>
          </p:cNvPr>
          <p:cNvSpPr txBox="1"/>
          <p:nvPr/>
        </p:nvSpPr>
        <p:spPr>
          <a:xfrm>
            <a:off x="1457325" y="1685925"/>
            <a:ext cx="912971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3D Gaussian Splatting (3DGS) is a state-of-the-art rendering method that reconstructs highly realistic 3D scenes from 2D images or video footage, delivering real-time performance and enabling high-quality synthesis of new viewpoints.</a:t>
            </a:r>
          </a:p>
          <a:p>
            <a:endParaRPr lang="en-US" sz="2400" dirty="0"/>
          </a:p>
          <a:p>
            <a:r>
              <a:rPr lang="en-US" sz="2400" dirty="0"/>
              <a:t>Each Gaussian Stores: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3D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Covariance (size and orientation)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Color (spherical harmonics)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Opacity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A3302-573F-404E-8038-024DE1C53E00}"/>
              </a:ext>
            </a:extLst>
          </p:cNvPr>
          <p:cNvSpPr txBox="1"/>
          <p:nvPr/>
        </p:nvSpPr>
        <p:spPr>
          <a:xfrm>
            <a:off x="2756932" y="343284"/>
            <a:ext cx="709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ONE: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2E8694-F946-48FD-B89F-283800E4B56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3277453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85750"/>
            <a:ext cx="11329989" cy="1543050"/>
          </a:xfrm>
        </p:spPr>
        <p:txBody>
          <a:bodyPr>
            <a:normAutofit/>
          </a:bodyPr>
          <a:lstStyle/>
          <a:p>
            <a:br>
              <a:rPr lang="en-US"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981" y="507049"/>
            <a:ext cx="1078042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MOTIVATION</a:t>
            </a: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400" b="0"/>
            </a:pPr>
            <a:r>
              <a:rPr lang="en-US" sz="2400" dirty="0"/>
              <a:t>3D Gaussian Splatting (3DGS) enables real‑time, photorealistic 3D scene reconstruction and is increasingly deployed in robotics, SLAM, AR, and autonomous systems. It performs best with static scenes.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4B8FB-968F-41E7-B7FD-FC1362B5926B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6B87D41-5D62-4FA6-A8E2-C560E214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9612" y="453166"/>
            <a:ext cx="8229600" cy="467280"/>
          </a:xfrm>
        </p:spPr>
        <p:txBody>
          <a:bodyPr>
            <a:norm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1A276-B99E-4408-9C6B-1171A310BD24}"/>
              </a:ext>
            </a:extLst>
          </p:cNvPr>
          <p:cNvSpPr txBox="1">
            <a:spLocks/>
          </p:cNvSpPr>
          <p:nvPr/>
        </p:nvSpPr>
        <p:spPr>
          <a:xfrm>
            <a:off x="1285875" y="1969532"/>
            <a:ext cx="9886950" cy="323305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3DGS assumes static scenes – in reality, scenes are rarely static.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Dynamic objects introduce noise, instability, and artifacts.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The need to produce cleaner, more stable reconstructions that better capture the underlying static geometry, ultimately enhancing the practicality of 3DGS for applications.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9DEB7-7595-438C-8FFC-5051851965F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1043436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3F7BB-EB4D-1B5E-D400-486545F42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0EE30F-A536-F4BD-1B5C-3F1DA6E12930}"/>
              </a:ext>
            </a:extLst>
          </p:cNvPr>
          <p:cNvSpPr txBox="1"/>
          <p:nvPr/>
        </p:nvSpPr>
        <p:spPr>
          <a:xfrm>
            <a:off x="2845026" y="674473"/>
            <a:ext cx="64987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 Overview of Masking Strategies Employed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C11EFA-A827-821E-6C83-5DDECF24C22F}"/>
                  </a:ext>
                </a:extLst>
              </p:cNvPr>
              <p:cNvSpPr txBox="1"/>
              <p:nvPr/>
            </p:nvSpPr>
            <p:spPr>
              <a:xfrm>
                <a:off x="911081" y="1614980"/>
                <a:ext cx="9588190" cy="532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b="1" dirty="0"/>
                  <a:t>- Strategy 1: Loss Masking (Gradient Masking)</a:t>
                </a:r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mask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/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nary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nor/>
                          </m:rPr>
                          <a:rPr lang="en-US" i="1"/>
                          <m:t>error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/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nary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𝜀</m:t>
                        </m:r>
                      </m:den>
                    </m:f>
                  </m:oMath>
                </a14:m>
                <a:r>
                  <a:rPr lang="en-US" sz="2000" b="0" dirty="0"/>
                  <a:t>: simplified as</a:t>
                </a:r>
                <a:endParaRPr lang="ar-AE" sz="2000" b="0" dirty="0"/>
              </a:p>
              <a:p>
                <a:r>
                  <a:rPr lang="en-US" sz="1600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: pixel index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ar-AE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600" dirty="0"/>
                  <a:t>if pixel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is static,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if dynamic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error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per-pixel photometric error (e.g.,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∥</m:t>
                    </m:r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render</m:t>
                        </m:r>
                      </m:sup>
                    </m:sSubSup>
                    <m:r>
                      <a:rPr lang="ar-AE" sz="160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gt</m:t>
                        </m:r>
                      </m:sup>
                    </m:sSubSup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16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ar-AE" sz="16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small constant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16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60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ar-AE" sz="1600" dirty="0"/>
                  <a:t>) </a:t>
                </a:r>
                <a:r>
                  <a:rPr lang="en-US" sz="1600" dirty="0"/>
                  <a:t>to avoid division by zero)</a:t>
                </a:r>
              </a:p>
              <a:p>
                <a:endParaRPr lang="en-US" sz="1600" dirty="0"/>
              </a:p>
              <a:p>
                <a:r>
                  <a:rPr lang="en-US" sz="2000" b="1" dirty="0"/>
                  <a:t>- Strategy 2: Ray Filtering (Geometry Masking)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i="1"/>
                            <m:t>eff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sz="1600" b="0" dirty="0"/>
              </a:p>
              <a:p>
                <a:r>
                  <a:rPr lang="en-US" sz="1600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600" dirty="0"/>
                  <a:t>: pixel (ray) index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/>
                  <a:t>: Gaussian index along ray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original opacity of Gaussian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dirty="0"/>
                  <a:t>at pixel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ar-AE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600" dirty="0"/>
                  <a:t>for static rays,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00" dirty="0"/>
                  <a:t>for dynamic rays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sz="1600" i="1"/>
                          <m:t>eff</m:t>
                        </m:r>
                      </m:sup>
                    </m:sSubSup>
                    <m:d>
                      <m:d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ar-AE" sz="1600" dirty="0"/>
                  <a:t>: </a:t>
                </a:r>
                <a:r>
                  <a:rPr lang="en-US" sz="1600" dirty="0"/>
                  <a:t>effective opacity used in compositing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C11EFA-A827-821E-6C83-5DDECF24C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081" y="1614980"/>
                <a:ext cx="9588190" cy="5324663"/>
              </a:xfrm>
              <a:prstGeom prst="rect">
                <a:avLst/>
              </a:prstGeom>
              <a:blipFill>
                <a:blip r:embed="rId3"/>
                <a:stretch>
                  <a:fillRect l="-636" t="-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B02EA46-6E3B-091C-7B48-77E697423F82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B6F41-2992-D41C-53AB-E4F11B7EB6D8}"/>
              </a:ext>
            </a:extLst>
          </p:cNvPr>
          <p:cNvSpPr txBox="1"/>
          <p:nvPr/>
        </p:nvSpPr>
        <p:spPr>
          <a:xfrm>
            <a:off x="3087687" y="168413"/>
            <a:ext cx="5900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TWO: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F55E0-D001-4C85-B301-3680C06308BE}"/>
                  </a:ext>
                </a:extLst>
              </p:cNvPr>
              <p:cNvSpPr txBox="1"/>
              <p:nvPr/>
            </p:nvSpPr>
            <p:spPr>
              <a:xfrm>
                <a:off x="5462926" y="2133477"/>
                <a:ext cx="4454639" cy="7630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𝑚𝑎𝑠𝑘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F55E0-D001-4C85-B301-3680C0630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926" y="2133477"/>
                <a:ext cx="4454639" cy="763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54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8715" y="147838"/>
            <a:ext cx="46151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443941" y="732613"/>
                <a:ext cx="8429105" cy="599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PSNR(PEAK SIGNAL-TO-NOISE RATIO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 = (1/(HW)) </a:t>
                </a:r>
                <a:r>
                  <a:rPr lang="el-G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 (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I_ij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−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K_ij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)^2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 Formula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(x, y)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luminance, contrast, structure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Formula</a:t>
                </a: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(x, y)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⊙(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</m:e>
                        </m:nary>
                      </m:e>
                    </m:nary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)||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/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Feature-based perceptual similarity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STATIC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𝑆𝑆𝐼𝑀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𝑆𝑆𝐼𝑀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𝑟𝑒𝑛𝑒𝑟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− 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𝑔𝑡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algn="ctr"/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3941" y="732613"/>
                <a:ext cx="8429105" cy="5997732"/>
              </a:xfrm>
              <a:prstGeom prst="rect">
                <a:avLst/>
              </a:prstGeom>
              <a:blipFill>
                <a:blip r:embed="rId3"/>
                <a:stretch>
                  <a:fillRect t="-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E95348C-9CE2-4ED3-94A9-48D76BC53E49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8F524-EF64-486C-B581-A9569C2993BF}"/>
              </a:ext>
            </a:extLst>
          </p:cNvPr>
          <p:cNvSpPr txBox="1"/>
          <p:nvPr/>
        </p:nvSpPr>
        <p:spPr>
          <a:xfrm>
            <a:off x="665147" y="1065871"/>
            <a:ext cx="3557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 = maximum possible pixel value of the image (e.g., 1.0 if normalized, 255 if 8-bit)</a:t>
            </a:r>
          </a:p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=BTW predicted and ground truth images: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D1339-B66F-4D04-B75A-82876271582C}"/>
              </a:ext>
            </a:extLst>
          </p:cNvPr>
          <p:cNvSpPr txBox="1"/>
          <p:nvPr/>
        </p:nvSpPr>
        <p:spPr>
          <a:xfrm>
            <a:off x="8854525" y="2236975"/>
            <a:ext cx="33343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y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local patches of predicted and ground truth images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μx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​,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mean pixel intensity of x and y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σx2​,σy2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variance of x and y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σxy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covariance between x and 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Others= Stabilization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/>
              <p:nvPr/>
            </p:nvSpPr>
            <p:spPr>
              <a:xfrm>
                <a:off x="275493" y="3731479"/>
                <a:ext cx="2714719" cy="17491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 y </a:t>
                </a: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images</a:t>
                </a: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93" y="3731479"/>
                <a:ext cx="2714719" cy="1749197"/>
              </a:xfrm>
              <a:prstGeom prst="rect">
                <a:avLst/>
              </a:prstGeom>
              <a:blipFill>
                <a:blip r:embed="rId4"/>
                <a:stretch>
                  <a:fillRect r="-94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25AD7D-6CC8-44BC-B90C-05F7FD6D9A61}"/>
                  </a:ext>
                </a:extLst>
              </p:cNvPr>
              <p:cNvSpPr txBox="1"/>
              <p:nvPr/>
            </p:nvSpPr>
            <p:spPr>
              <a:xfrm>
                <a:off x="8810075" y="5005668"/>
                <a:ext cx="3334300" cy="1461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/>
                  <a:t>Where:</a:t>
                </a:r>
              </a:p>
              <a:p>
                <a:r>
                  <a:rPr lang="en-US" sz="1200"/>
                  <a:t>L=total loss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loss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</m:t>
                      </m:r>
                    </m:oMath>
                  </m:oMathPara>
                </a14:m>
                <a:endParaRPr lang="en-US" sz="12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𝑜𝑡𝑜𝑚𝑒𝑡𝑟𝑖𝑐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𝑙𝑜𝑠</m:t>
                    </m:r>
                  </m:oMath>
                </a14:m>
                <a:r>
                  <a:rPr lang="en-US" sz="120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𝑟𝑒𝑛𝑒𝑟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− </m:t>
                        </m:r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𝑔𝑡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sz="120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𝑆𝑆𝐼𝑀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𝑆𝑆𝐼𝑀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𝑤𝑒𝑖𝑔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𝑆𝑆𝐼𝑀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𝑆𝑆𝐼𝑀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𝑙𝑜𝑠𝑠</m:t>
                      </m:r>
                    </m:oMath>
                  </m:oMathPara>
                </a14:m>
                <a:endParaRPr lang="en-US" sz="12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25AD7D-6CC8-44BC-B90C-05F7FD6D9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0075" y="5005668"/>
                <a:ext cx="3334300" cy="1461106"/>
              </a:xfrm>
              <a:prstGeom prst="rect">
                <a:avLst/>
              </a:prstGeom>
              <a:blipFill>
                <a:blip r:embed="rId5"/>
                <a:stretch>
                  <a:fillRect l="-1463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077809" y="382458"/>
            <a:ext cx="66865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2.3: 2D MASKING IN 3DGS – why?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2280" y="1107861"/>
            <a:ext cx="11244263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rPr lang="en-US" sz="2000" dirty="0"/>
              <a:t>Since d</a:t>
            </a:r>
            <a:r>
              <a:rPr sz="2000" dirty="0"/>
              <a:t>ynamic objects in scenes cause reconstruction artifacts in 3D Gaussian Splatting</a:t>
            </a:r>
            <a:r>
              <a:rPr lang="en-US" sz="2000" b="1" dirty="0"/>
              <a:t> </a:t>
            </a:r>
            <a:r>
              <a:rPr lang="en-US" sz="2000" dirty="0"/>
              <a:t>the goal of masking is to i</a:t>
            </a:r>
            <a:r>
              <a:rPr sz="2000" dirty="0"/>
              <a:t>mprove reconstruction fidelity using 2D semantic masks</a:t>
            </a:r>
            <a:r>
              <a:rPr lang="en-US" sz="2000" dirty="0"/>
              <a:t>.</a:t>
            </a:r>
          </a:p>
          <a:p>
            <a:pPr>
              <a:defRPr sz="2000" b="0"/>
            </a:pPr>
            <a:endParaRPr lang="en-US" sz="2400" dirty="0"/>
          </a:p>
          <a:p>
            <a:pPr>
              <a:defRPr sz="2000" b="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Hypothesis: For 2D binary masks (1 = static, 0 = dynamic) integrated during training eliminates static artifact error while maintaining efficiency.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file"/>
              </a:rPr>
              <a:t>ML in Robotics 202510\RECONSTRUCTED MASKED IMAGES.png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A261B-F9E9-4A48-80DD-57CDC16F64D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ADF6B8-7274-4A2E-AA7B-49DE180D65DA}"/>
              </a:ext>
            </a:extLst>
          </p:cNvPr>
          <p:cNvSpPr txBox="1"/>
          <p:nvPr/>
        </p:nvSpPr>
        <p:spPr>
          <a:xfrm>
            <a:off x="1043240" y="6370576"/>
            <a:ext cx="862103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/>
            </a:pPr>
            <a:r>
              <a:rPr lang="en-US" dirty="0"/>
              <a:t>Fig. 2.1 : Image ground truth  vs Reconstructed Masked Image</a:t>
            </a:r>
            <a:endParaRPr dirty="0"/>
          </a:p>
        </p:txBody>
      </p:sp>
      <p:pic>
        <p:nvPicPr>
          <p:cNvPr id="5" name="VID-20251231-WA0014">
            <a:hlinkClick r:id="" action="ppaction://media"/>
            <a:extLst>
              <a:ext uri="{FF2B5EF4-FFF2-40B4-BE49-F238E27FC236}">
                <a16:creationId xmlns:a16="http://schemas.microsoft.com/office/drawing/2014/main" id="{9FB2FEE5-38EF-4E93-A226-96C2EA2968D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72279" y="3108409"/>
            <a:ext cx="6023633" cy="2993133"/>
          </a:xfrm>
          <a:prstGeom prst="rect">
            <a:avLst/>
          </a:prstGeom>
        </p:spPr>
      </p:pic>
      <p:pic>
        <p:nvPicPr>
          <p:cNvPr id="7" name="VID-20251231-WA0016">
            <a:hlinkClick r:id="" action="ppaction://media"/>
            <a:extLst>
              <a:ext uri="{FF2B5EF4-FFF2-40B4-BE49-F238E27FC236}">
                <a16:creationId xmlns:a16="http://schemas.microsoft.com/office/drawing/2014/main" id="{889BD384-63EC-4A0A-B100-2FE3DAA5181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094410" y="3108409"/>
            <a:ext cx="5761161" cy="29931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4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84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E49115-EC53-4C00-A605-098D46285E1C}"/>
              </a:ext>
            </a:extLst>
          </p:cNvPr>
          <p:cNvSpPr txBox="1">
            <a:spLocks/>
          </p:cNvSpPr>
          <p:nvPr/>
        </p:nvSpPr>
        <p:spPr>
          <a:xfrm>
            <a:off x="709840" y="2839115"/>
            <a:ext cx="4457700" cy="117977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A080-77B8-4622-9CBE-A1C9015DE1FD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5E220-E899-4A0A-9234-FC5FFF499BF7}"/>
              </a:ext>
            </a:extLst>
          </p:cNvPr>
          <p:cNvSpPr txBox="1"/>
          <p:nvPr/>
        </p:nvSpPr>
        <p:spPr>
          <a:xfrm>
            <a:off x="1845425" y="320903"/>
            <a:ext cx="82295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3: RESULTS </a:t>
            </a:r>
            <a:r>
              <a:rPr lang="en-US" sz="10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file"/>
              </a:rPr>
              <a:t>ML in Robotics 202510\Metric Eval2.png</a:t>
            </a:r>
            <a:endParaRPr lang="en-US"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CD4B93-1F48-4F0D-B029-E15EF7A2A2E9}"/>
              </a:ext>
            </a:extLst>
          </p:cNvPr>
          <p:cNvSpPr txBox="1"/>
          <p:nvPr/>
        </p:nvSpPr>
        <p:spPr>
          <a:xfrm>
            <a:off x="2698069" y="6011231"/>
            <a:ext cx="5514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3.0: Ground Truth vs Rendering Images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BC21A3-9F18-40DC-9818-84D0A2BEA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07" y="1142999"/>
            <a:ext cx="11878368" cy="4742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342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AB55-150B-4652-9103-908533E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892" y="9605"/>
            <a:ext cx="11122428" cy="886225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3.2: Quantitative Results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Comparison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AD4704-B51A-457D-A3DA-274FE817A5B5}"/>
              </a:ext>
            </a:extLst>
          </p:cNvPr>
          <p:cNvSpPr txBox="1"/>
          <p:nvPr/>
        </p:nvSpPr>
        <p:spPr>
          <a:xfrm>
            <a:off x="1748744" y="6336242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Fig. 3.1: Eval chart view per methods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CB8108-6334-4D42-8BA6-5F4450059B6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F8A8F-4103-4846-B075-B7C41FEDD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83" y="1130184"/>
            <a:ext cx="10818459" cy="520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38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4DF19-7DE3-4B11-9F74-699CDC252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969" y="82458"/>
            <a:ext cx="6752384" cy="786548"/>
          </a:xfrm>
        </p:spPr>
        <p:txBody>
          <a:bodyPr/>
          <a:lstStyle/>
          <a:p>
            <a:r>
              <a:rPr lang="en-US" sz="3200" dirty="0"/>
              <a:t>OVERALL METRIC COMPARISON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EC38D-39FF-4ACA-A640-6826C19D3305}"/>
              </a:ext>
            </a:extLst>
          </p:cNvPr>
          <p:cNvSpPr txBox="1"/>
          <p:nvPr/>
        </p:nvSpPr>
        <p:spPr>
          <a:xfrm>
            <a:off x="1410381" y="6220910"/>
            <a:ext cx="8564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3.1C: Overall Metric </a:t>
            </a:r>
            <a:r>
              <a:rPr lang="en-US" dirty="0" err="1"/>
              <a:t>Comparison</a:t>
            </a:r>
            <a:r>
              <a:rPr lang="en-US" dirty="0" err="1">
                <a:hlinkClick r:id="rId2" action="ppaction://hlinkfile"/>
              </a:rPr>
              <a:t>ML</a:t>
            </a:r>
            <a:r>
              <a:rPr lang="en-US" dirty="0">
                <a:hlinkClick r:id="rId2" action="ppaction://hlinkfile"/>
              </a:rPr>
              <a:t> in Robotics 202510\OVERALL COMPARISON.png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E9A38-9BCF-469B-8ADD-76488D82892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AB82945-7D23-46C7-BE62-A6D9DD561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869006"/>
            <a:ext cx="9671050" cy="5285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140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12046" y="243959"/>
            <a:ext cx="35647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1651" y="1100167"/>
            <a:ext cx="109936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dynamic masks into the 3DGS training pipeline effectively produces cleaner static reconstructions in dynamic scenes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Masking offers a practical path to robustness without modifying core 3DGS architecture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slightly better perceptually than ray filtering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keeps partial information.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174D2-E9EE-4FE5-9244-F7681288980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1C71AD-0452-4680-ACE7-9AEF9790933A}"/>
              </a:ext>
            </a:extLst>
          </p:cNvPr>
          <p:cNvSpPr txBox="1"/>
          <p:nvPr/>
        </p:nvSpPr>
        <p:spPr>
          <a:xfrm>
            <a:off x="405720" y="2738314"/>
            <a:ext cx="1118552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3.4: Limitations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work was carried out using synthetic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depends on mask quality to achieve higher quality reconstruction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scene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70C51-DCE4-45BA-AAE3-B5F32134557F}"/>
              </a:ext>
            </a:extLst>
          </p:cNvPr>
          <p:cNvSpPr txBox="1"/>
          <p:nvPr/>
        </p:nvSpPr>
        <p:spPr>
          <a:xfrm>
            <a:off x="501651" y="4292586"/>
            <a:ext cx="1100137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3.5: Future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 masks automatically e.g. by using segmentation network to apply to real-world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from static-scene robustness to full dynamic-scene modelling e.g. by combining static 3DGS with 4D Gaussians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2965</TotalTime>
  <Words>1301</Words>
  <Application>Microsoft Office PowerPoint</Application>
  <PresentationFormat>Custom</PresentationFormat>
  <Paragraphs>165</Paragraphs>
  <Slides>12</Slides>
  <Notes>7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Cambria Math</vt:lpstr>
      <vt:lpstr>Century Gothic</vt:lpstr>
      <vt:lpstr>Times New Roman</vt:lpstr>
      <vt:lpstr>Wingdings</vt:lpstr>
      <vt:lpstr>Wingdings 3</vt:lpstr>
      <vt:lpstr>Ion</vt:lpstr>
      <vt:lpstr>ITMO UNIVERSITY  FACULTY OF CONTROL SYSTEMS AND ROBOTICS</vt:lpstr>
      <vt:lpstr>PowerPoint Presentation</vt:lpstr>
      <vt:lpstr>1.1: 3D Gaussian Splatting Overview</vt:lpstr>
      <vt:lpstr> </vt:lpstr>
      <vt:lpstr>1.2 Problem Statement</vt:lpstr>
      <vt:lpstr>PowerPoint Presentation</vt:lpstr>
      <vt:lpstr>PowerPoint Presentation</vt:lpstr>
      <vt:lpstr>PowerPoint Presentation</vt:lpstr>
      <vt:lpstr>PowerPoint Presentation</vt:lpstr>
      <vt:lpstr>3.2: Quantitative Results Metrics Comparison</vt:lpstr>
      <vt:lpstr>OVERALL METRIC COMPARISON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Mandengs</cp:lastModifiedBy>
  <cp:revision>345</cp:revision>
  <dcterms:created xsi:type="dcterms:W3CDTF">2013-01-27T09:14:16Z</dcterms:created>
  <dcterms:modified xsi:type="dcterms:W3CDTF">2026-01-05T13:51:15Z</dcterms:modified>
  <cp:category/>
</cp:coreProperties>
</file>