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4"/>
  </p:notesMasterIdLst>
  <p:sldIdLst>
    <p:sldId id="267" r:id="rId2"/>
    <p:sldId id="266" r:id="rId3"/>
    <p:sldId id="268" r:id="rId4"/>
    <p:sldId id="256" r:id="rId5"/>
    <p:sldId id="264" r:id="rId6"/>
    <p:sldId id="271" r:id="rId7"/>
    <p:sldId id="259" r:id="rId8"/>
    <p:sldId id="257" r:id="rId9"/>
    <p:sldId id="265" r:id="rId10"/>
    <p:sldId id="270" r:id="rId11"/>
    <p:sldId id="272" r:id="rId12"/>
    <p:sldId id="263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1121" autoAdjust="0"/>
  </p:normalViewPr>
  <p:slideViewPr>
    <p:cSldViewPr snapToGrid="0" snapToObjects="1">
      <p:cViewPr varScale="1">
        <p:scale>
          <a:sx n="58" d="100"/>
          <a:sy n="58" d="100"/>
        </p:scale>
        <p:origin x="1194" y="66"/>
      </p:cViewPr>
      <p:guideLst>
        <p:guide orient="horz" pos="2160"/>
        <p:guide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BEC776-E625-468F-82D5-EE59A9E1DE49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27A8F3-6447-4D56-B1DA-1C35DDA8B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474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3D Gaussian Splatting reconstructs 3D scenes very well when everything is static, but in real environments moving objects (people, cars, robot arms) cause ghosting, smearing, and unstable geometry.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3D Gaussian Splatting (3DGS) is a state‑of‑the‑art real‑time 3D reconstruction method now widely deployed in robotics (manipulation, localization), AR/VR applications, and SLAM systems. For robots operating in real environments—factory floors, collaborative workspaces, outdoor navigation—the need for fast, accurate scene reconstruction is paramount. Yet 3DGS has a fundamental limitation: it assumes the scene is static throughout capture. This assumption is violated whenever robots, people, or other moving agents appear in the environment.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27A8F3-6447-4D56-B1DA-1C35DDA8BB1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2878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project asks whether using simple 2D masks to ignore those dynamic pixels during training can make standard 3DGS robust enough for cleaner static reconstructions in robotics and similar applications.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27A8F3-6447-4D56-B1DA-1C35DDA8BB1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7447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7969C-3B49-20C0-99EE-1C852647A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08F451-06C3-C0CC-52D5-B4B080E3C6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375556-ED4F-E387-2EB9-F887AB57E1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1. </a:t>
            </a:r>
            <a:r>
              <a:rPr lang="en-US" sz="1200" b="1" dirty="0"/>
              <a:t>Gradient Masking (Loss Masking) </a:t>
            </a:r>
            <a:r>
              <a:rPr lang="en-US" sz="1200" dirty="0"/>
              <a:t>– Weight loss by (1-mask).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It down-weights masked pixels in loss.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Maintains structural integrity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Simpler to implement.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r>
              <a:rPr lang="en-US" sz="1200" dirty="0"/>
              <a:t>2</a:t>
            </a:r>
            <a:r>
              <a:rPr lang="en-US" sz="1200" b="1" dirty="0"/>
              <a:t>. Ray Filtering </a:t>
            </a:r>
            <a:r>
              <a:rPr lang="en-US" sz="1200" dirty="0"/>
              <a:t>– Discard rays passing through dynamic regions.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Removes masked rays fully from training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Higher PSNR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Sharper geometry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r>
              <a:rPr lang="en-US" sz="1200" dirty="0"/>
              <a:t>3. </a:t>
            </a:r>
            <a:r>
              <a:rPr lang="en-US" sz="1200" b="1" dirty="0"/>
              <a:t>Baseline (unmasked) </a:t>
            </a:r>
            <a:r>
              <a:rPr lang="en-US" sz="1200" dirty="0"/>
              <a:t>- trains 3D Gaussian Splatting normally.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 dirty="0"/>
              <a:t>uses all pixels from all training images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No mask guidance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ACBD0B-5B70-944D-E932-61A7E91F80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27A8F3-6447-4D56-B1DA-1C35DDA8BB1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1361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PSNR</a:t>
                </a:r>
                <a:r>
                  <a:rPr lang="en-US" dirty="0"/>
                  <a:t>_DEF: </a:t>
                </a:r>
                <a:r>
                  <a:rPr lang="en-US" sz="1200" dirty="0"/>
                  <a:t>L = maximum possible pixel value of the image (e.g., 1.0 if normalized, 255 if 8-bit)</a:t>
                </a:r>
              </a:p>
              <a:p>
                <a:r>
                  <a:rPr lang="en-US" sz="1200" b="1" dirty="0"/>
                  <a:t>MSE</a:t>
                </a:r>
                <a:r>
                  <a:rPr lang="en-US" sz="1200" dirty="0"/>
                  <a:t>=BTW predicted and ground truth images:</a:t>
                </a:r>
              </a:p>
              <a:p>
                <a:endParaRPr lang="en-US" sz="1200" dirty="0"/>
              </a:p>
              <a:p>
                <a:r>
                  <a:rPr lang="en-US" b="1" dirty="0"/>
                  <a:t>SSIM_DEF</a:t>
                </a:r>
                <a:r>
                  <a:rPr lang="en-US" dirty="0"/>
                  <a:t>: </a:t>
                </a:r>
                <a:r>
                  <a:rPr lang="en-US" sz="1200" b="1" dirty="0"/>
                  <a:t>x, y </a:t>
                </a:r>
                <a:r>
                  <a:rPr lang="en-US" sz="1200" dirty="0"/>
                  <a:t>= local patches of predicted and ground truth images</a:t>
                </a:r>
              </a:p>
              <a:p>
                <a:r>
                  <a:rPr lang="en-US" sz="1200" b="1" dirty="0" err="1"/>
                  <a:t>μx</a:t>
                </a:r>
                <a:r>
                  <a:rPr lang="en-US" sz="1200" b="1" dirty="0"/>
                  <a:t>​, </a:t>
                </a:r>
                <a:r>
                  <a:rPr lang="en-US" sz="1200" b="1" dirty="0" err="1"/>
                  <a:t>μy</a:t>
                </a:r>
                <a:r>
                  <a:rPr lang="en-US" sz="1200" dirty="0"/>
                  <a:t>​ = mean intensity of x and y</a:t>
                </a:r>
              </a:p>
              <a:p>
                <a:r>
                  <a:rPr lang="en-US" sz="1200" b="1" dirty="0"/>
                  <a:t>σx2​,σy2</a:t>
                </a:r>
                <a:r>
                  <a:rPr lang="en-US" sz="1200" dirty="0"/>
                  <a:t>​ = variance of x and y</a:t>
                </a:r>
              </a:p>
              <a:p>
                <a:r>
                  <a:rPr lang="en-US" sz="1200" b="1" dirty="0" err="1"/>
                  <a:t>σxy</a:t>
                </a:r>
                <a:r>
                  <a:rPr lang="en-US" sz="1200" dirty="0"/>
                  <a:t>​ = covariance between x and y</a:t>
                </a:r>
              </a:p>
              <a:p>
                <a:endParaRPr lang="en-US" sz="1200" dirty="0"/>
              </a:p>
              <a:p>
                <a:r>
                  <a:rPr lang="en-US" sz="1200" dirty="0"/>
                  <a:t>Others= Stabilization constants</a:t>
                </a:r>
              </a:p>
              <a:p>
                <a:endParaRPr lang="en-US" sz="1200" dirty="0"/>
              </a:p>
              <a:p>
                <a:r>
                  <a:rPr lang="en-US" b="1" dirty="0"/>
                  <a:t>LPIPS_DEF</a:t>
                </a:r>
                <a:r>
                  <a:rPr lang="en-US" dirty="0"/>
                  <a:t>: </a:t>
                </a:r>
                <a:r>
                  <a:rPr lang="en-US" sz="1200" i="1" dirty="0"/>
                  <a:t>x, y </a:t>
                </a:r>
                <a:r>
                  <a:rPr lang="en-US" sz="1200" dirty="0"/>
                  <a:t>= images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p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</m:sSup>
                      <m:r>
                        <a:rPr lang="en-US" sz="1200" i="1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p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</m:sSup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feature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activations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of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pretrained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network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 (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e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g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., 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AlexNet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VGG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) 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at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layer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en-US" sz="1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US" sz="1200" i="1"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learned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per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channel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weights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for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layer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en-US" sz="1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US" sz="1200" i="1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US" sz="1200" i="1">
                          <a:latin typeface="Cambria Math" panose="02040503050406030204" pitchFamily="18" charset="0"/>
                        </a:rPr>
                        <m:t> = 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spatial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dimensions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of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layer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en-US" sz="1200" dirty="0"/>
              </a:p>
              <a:p>
                <a:endParaRPr lang="en-US" sz="12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PSNR</a:t>
                </a:r>
                <a:r>
                  <a:rPr lang="en-US" dirty="0"/>
                  <a:t>_DEF: </a:t>
                </a:r>
                <a:r>
                  <a:rPr lang="en-US" sz="1200" dirty="0"/>
                  <a:t>L = maximum possible pixel value of the image (e.g., 1.0 if normalized, 255 if 8-bit)</a:t>
                </a:r>
              </a:p>
              <a:p>
                <a:r>
                  <a:rPr lang="en-US" sz="1200" b="1" dirty="0"/>
                  <a:t>MSE</a:t>
                </a:r>
                <a:r>
                  <a:rPr lang="en-US" sz="1200" dirty="0"/>
                  <a:t>=BTW predicted and ground truth images:</a:t>
                </a:r>
              </a:p>
              <a:p>
                <a:endParaRPr lang="en-US" sz="1200" dirty="0"/>
              </a:p>
              <a:p>
                <a:r>
                  <a:rPr lang="en-US" b="1" dirty="0"/>
                  <a:t>SSIM_DEF</a:t>
                </a:r>
                <a:r>
                  <a:rPr lang="en-US" dirty="0"/>
                  <a:t>: </a:t>
                </a:r>
                <a:r>
                  <a:rPr lang="en-US" sz="1200" b="1" dirty="0"/>
                  <a:t>x, y </a:t>
                </a:r>
                <a:r>
                  <a:rPr lang="en-US" sz="1200" dirty="0"/>
                  <a:t>= local patches of predicted and ground truth images</a:t>
                </a:r>
              </a:p>
              <a:p>
                <a:r>
                  <a:rPr lang="en-US" sz="1200" b="1" dirty="0" err="1"/>
                  <a:t>μx</a:t>
                </a:r>
                <a:r>
                  <a:rPr lang="en-US" sz="1200" b="1" dirty="0"/>
                  <a:t>​, </a:t>
                </a:r>
                <a:r>
                  <a:rPr lang="en-US" sz="1200" b="1" dirty="0" err="1"/>
                  <a:t>μy</a:t>
                </a:r>
                <a:r>
                  <a:rPr lang="en-US" sz="1200" dirty="0"/>
                  <a:t>​ = mean intensity of x and y</a:t>
                </a:r>
              </a:p>
              <a:p>
                <a:r>
                  <a:rPr lang="en-US" sz="1200" b="1" dirty="0"/>
                  <a:t>σx2​,σy2</a:t>
                </a:r>
                <a:r>
                  <a:rPr lang="en-US" sz="1200" dirty="0"/>
                  <a:t>​ = variance of x and y</a:t>
                </a:r>
              </a:p>
              <a:p>
                <a:r>
                  <a:rPr lang="en-US" sz="1200" b="1" dirty="0" err="1"/>
                  <a:t>σxy</a:t>
                </a:r>
                <a:r>
                  <a:rPr lang="en-US" sz="1200" dirty="0"/>
                  <a:t>​ = covariance between x and y</a:t>
                </a:r>
              </a:p>
              <a:p>
                <a:endParaRPr lang="en-US" sz="1200" dirty="0"/>
              </a:p>
              <a:p>
                <a:r>
                  <a:rPr lang="en-US" sz="1200" dirty="0"/>
                  <a:t>Others= Stabilization constants</a:t>
                </a:r>
              </a:p>
              <a:p>
                <a:endParaRPr lang="en-US" sz="1200" dirty="0"/>
              </a:p>
              <a:p>
                <a:r>
                  <a:rPr lang="en-US" b="1" dirty="0"/>
                  <a:t>LPIPS_DEF</a:t>
                </a:r>
                <a:r>
                  <a:rPr lang="en-US" dirty="0"/>
                  <a:t>: </a:t>
                </a:r>
                <a:r>
                  <a:rPr lang="en-US" sz="1200" i="1" dirty="0"/>
                  <a:t>x, y </a:t>
                </a:r>
                <a:r>
                  <a:rPr lang="en-US" sz="1200" dirty="0"/>
                  <a:t>= images</a:t>
                </a:r>
              </a:p>
              <a:p>
                <a:r>
                  <a:rPr lang="en-US" sz="1200" i="0">
                    <a:latin typeface="Cambria Math" panose="02040503050406030204" pitchFamily="18" charset="0"/>
                  </a:rPr>
                  <a:t>𝑥 ̂^𝑙, 𝑦 ̂^𝑙</a:t>
                </a:r>
                <a:r>
                  <a:rPr lang="en-US" sz="1200" b="0" i="0">
                    <a:latin typeface="Cambria Math" panose="02040503050406030204" pitchFamily="18" charset="0"/>
                  </a:rPr>
                  <a:t>:</a:t>
                </a:r>
                <a:r>
                  <a:rPr lang="en-US" sz="1200" i="0">
                    <a:latin typeface="Cambria Math" panose="02040503050406030204" pitchFamily="18" charset="0"/>
                  </a:rPr>
                  <a:t>feature activations of a pretrained network (e.g., AlexNet, VGG) at layer 𝑙</a:t>
                </a:r>
                <a:endParaRPr lang="en-US" sz="1200" dirty="0"/>
              </a:p>
              <a:p>
                <a:pPr/>
                <a:r>
                  <a:rPr lang="en-US" sz="1200" i="0">
                    <a:latin typeface="Cambria Math" panose="02040503050406030204" pitchFamily="18" charset="0"/>
                  </a:rPr>
                  <a:t>𝑤_𝑙= learned per−channel weights for layer 𝑙</a:t>
                </a:r>
                <a:endParaRPr lang="en-US" sz="1200" dirty="0"/>
              </a:p>
              <a:p>
                <a:pPr/>
                <a:r>
                  <a:rPr lang="en-US" sz="1200" i="0">
                    <a:latin typeface="Cambria Math" panose="02040503050406030204" pitchFamily="18" charset="0"/>
                  </a:rPr>
                  <a:t>𝐻_𝑙, 𝑊_𝑙  = spatial dimensions of layer 𝑙</a:t>
                </a:r>
                <a:endParaRPr lang="en-US" sz="1200" dirty="0"/>
              </a:p>
              <a:p>
                <a:endParaRPr lang="en-US" sz="1200" dirty="0"/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27A8F3-6447-4D56-B1DA-1C35DDA8BB1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342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PSNR/SSIM/LPIPS for each masking strategy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Ray filtering typically yields sharper details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 masking smooth but robust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27A8F3-6447-4D56-B1DA-1C35DDA8BB1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2992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27A8F3-6447-4D56-B1DA-1C35DDA8BB1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422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654" y="1447801"/>
            <a:ext cx="8823360" cy="3329581"/>
          </a:xfrm>
        </p:spPr>
        <p:txBody>
          <a:bodyPr anchor="b"/>
          <a:lstStyle>
            <a:lvl1pPr>
              <a:defRPr sz="71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654" y="4777380"/>
            <a:ext cx="8823360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644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636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656" y="2861734"/>
            <a:ext cx="8823359" cy="1915647"/>
          </a:xfrm>
        </p:spPr>
        <p:txBody>
          <a:bodyPr anchor="b"/>
          <a:lstStyle>
            <a:lvl1pPr algn="l">
              <a:defRPr sz="39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654" y="4777381"/>
            <a:ext cx="8823360" cy="860400"/>
          </a:xfrm>
        </p:spPr>
        <p:txBody>
          <a:bodyPr anchor="t"/>
          <a:lstStyle>
            <a:lvl1pPr marL="0" indent="0" algn="l">
              <a:buNone/>
              <a:defRPr sz="1999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841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025" y="2060576"/>
            <a:ext cx="4395194" cy="4195763"/>
          </a:xfrm>
        </p:spPr>
        <p:txBody>
          <a:bodyPr>
            <a:normAutofit/>
          </a:bodyPr>
          <a:lstStyle>
            <a:lvl1pPr>
              <a:defRPr sz="1799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3021" y="2056093"/>
            <a:ext cx="4395196" cy="4200245"/>
          </a:xfrm>
        </p:spPr>
        <p:txBody>
          <a:bodyPr>
            <a:normAutofit/>
          </a:bodyPr>
          <a:lstStyle>
            <a:lvl1pPr>
              <a:defRPr sz="1799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827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026" y="1905000"/>
            <a:ext cx="4395193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025" y="2514600"/>
            <a:ext cx="4395194" cy="3741738"/>
          </a:xfrm>
        </p:spPr>
        <p:txBody>
          <a:bodyPr>
            <a:normAutofit/>
          </a:bodyPr>
          <a:lstStyle>
            <a:lvl1pPr>
              <a:defRPr sz="1799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3023" y="1905000"/>
            <a:ext cx="4395194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3023" y="2514600"/>
            <a:ext cx="4395194" cy="3741738"/>
          </a:xfrm>
        </p:spPr>
        <p:txBody>
          <a:bodyPr>
            <a:normAutofit/>
          </a:bodyPr>
          <a:lstStyle>
            <a:lvl1pPr>
              <a:defRPr sz="1799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202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793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736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652" y="1447800"/>
            <a:ext cx="3400178" cy="1447800"/>
          </a:xfrm>
        </p:spPr>
        <p:txBody>
          <a:bodyPr anchor="b"/>
          <a:lstStyle>
            <a:lvl1pPr algn="l">
              <a:defRPr sz="23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370" y="1447800"/>
            <a:ext cx="5194644" cy="4572000"/>
          </a:xfrm>
        </p:spPr>
        <p:txBody>
          <a:bodyPr anchor="ctr">
            <a:normAutofit/>
          </a:bodyPr>
          <a:lstStyle>
            <a:lvl1pPr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653" y="3129281"/>
            <a:ext cx="3400177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960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606" y="1854192"/>
            <a:ext cx="5091580" cy="1574808"/>
          </a:xfrm>
        </p:spPr>
        <p:txBody>
          <a:bodyPr anchor="b">
            <a:normAutofit/>
          </a:bodyPr>
          <a:lstStyle>
            <a:lvl1pPr algn="l">
              <a:defRPr sz="35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7736" y="1143000"/>
            <a:ext cx="3199567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654" y="3657600"/>
            <a:ext cx="5083655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730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656" y="4800587"/>
            <a:ext cx="8823359" cy="566738"/>
          </a:xfrm>
        </p:spPr>
        <p:txBody>
          <a:bodyPr anchor="b">
            <a:normAutofit/>
          </a:bodyPr>
          <a:lstStyle>
            <a:lvl1pPr algn="l">
              <a:defRPr sz="23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654" y="685800"/>
            <a:ext cx="8823360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655" y="5367325"/>
            <a:ext cx="882335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638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654" y="1447800"/>
            <a:ext cx="8823361" cy="1981200"/>
          </a:xfrm>
        </p:spPr>
        <p:txBody>
          <a:bodyPr/>
          <a:lstStyle>
            <a:lvl1pPr>
              <a:defRPr sz="47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654" y="3657600"/>
            <a:ext cx="8823361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799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9044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391" y="1447800"/>
            <a:ext cx="7997232" cy="2323374"/>
          </a:xfrm>
        </p:spPr>
        <p:txBody>
          <a:bodyPr/>
          <a:lstStyle>
            <a:lvl1pPr>
              <a:defRPr sz="47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29898" y="3771174"/>
            <a:ext cx="7277753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654" y="4350657"/>
            <a:ext cx="8823361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799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061" y="971253"/>
            <a:ext cx="801703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196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8060" y="2613787"/>
            <a:ext cx="801703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196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301536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653" y="3124201"/>
            <a:ext cx="8823362" cy="1653180"/>
          </a:xfrm>
        </p:spPr>
        <p:txBody>
          <a:bodyPr anchor="b"/>
          <a:lstStyle>
            <a:lvl1pPr algn="l">
              <a:defRPr sz="39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654" y="4777381"/>
            <a:ext cx="8823361" cy="860400"/>
          </a:xfrm>
        </p:spPr>
        <p:txBody>
          <a:bodyPr anchor="t"/>
          <a:lstStyle>
            <a:lvl1pPr marL="0" indent="0" algn="l">
              <a:buNone/>
              <a:defRPr sz="1999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2513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1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782" y="1981200"/>
            <a:ext cx="2946099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293" y="2667000"/>
            <a:ext cx="292658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2648" y="1981200"/>
            <a:ext cx="2935476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2097" y="2667000"/>
            <a:ext cx="2946027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2845" y="1981200"/>
            <a:ext cx="2931349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2845" y="2667000"/>
            <a:ext cx="2931349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517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0414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820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1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293" y="4250949"/>
            <a:ext cx="2939284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293" y="2209800"/>
            <a:ext cx="2939284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293" y="4827212"/>
            <a:ext cx="2939284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8363" y="4250949"/>
            <a:ext cx="2929762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8362" y="2209800"/>
            <a:ext cx="292976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7009" y="4827211"/>
            <a:ext cx="293364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2845" y="4250949"/>
            <a:ext cx="2931349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2844" y="2209800"/>
            <a:ext cx="2931349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2720" y="4827209"/>
            <a:ext cx="293523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517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0414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8015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9213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2050" y="430214"/>
            <a:ext cx="1752145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294" y="887414"/>
            <a:ext cx="7421216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569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6"/>
            <a:ext cx="4035961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8"/>
            <a:ext cx="1522016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6770" y="1676400"/>
            <a:ext cx="2818666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7330" y="1"/>
            <a:ext cx="1602969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3637" y="6096000"/>
            <a:ext cx="993475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5094" y="0"/>
            <a:ext cx="685621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5943" y="452718"/>
            <a:ext cx="9402274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025" y="2052919"/>
            <a:ext cx="894421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2866" y="1790741"/>
            <a:ext cx="990599" cy="30472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48740" y="3225337"/>
            <a:ext cx="3859795" cy="30472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49844" y="295730"/>
            <a:ext cx="837981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799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6002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063" rtl="0" eaLnBrk="1" latinLnBrk="0" hangingPunct="1">
        <a:spcBef>
          <a:spcPct val="0"/>
        </a:spcBef>
        <a:buNone/>
        <a:defRPr sz="4199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797" indent="-342797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999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727" indent="-285664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799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2657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599720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6783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5248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0908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7971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5034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ML%20in%20Robotics%20202510/mask%20creation.png" TargetMode="Externa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ML%20in%20Robotics%20202510/3dgs%20traing%20Results/comparison_figures_actual.png" TargetMode="Externa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476AC-6832-44B8-97B2-15D2D8A22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3275" y="395568"/>
            <a:ext cx="9402274" cy="2661957"/>
          </a:xfrm>
        </p:spPr>
        <p:txBody>
          <a:bodyPr/>
          <a:lstStyle/>
          <a:p>
            <a:pPr algn="ctr"/>
            <a:r>
              <a:rPr lang="en-US" dirty="0"/>
              <a:t>ITMO UNIVERSITY</a:t>
            </a:r>
            <a:br>
              <a:rPr lang="en-US" dirty="0"/>
            </a:br>
            <a:br>
              <a:rPr lang="en-US" dirty="0"/>
            </a:br>
            <a:r>
              <a:rPr lang="en-US" sz="2400" b="1" dirty="0"/>
              <a:t>FACULTY OF CONTROL SYSTEMS AND ROBOTICS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B821AA7-39D4-4016-8849-EB85232ACE41}"/>
              </a:ext>
            </a:extLst>
          </p:cNvPr>
          <p:cNvSpPr txBox="1">
            <a:spLocks/>
          </p:cNvSpPr>
          <p:nvPr/>
        </p:nvSpPr>
        <p:spPr>
          <a:xfrm>
            <a:off x="1111768" y="3328989"/>
            <a:ext cx="10251038" cy="9429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063" rtl="0" eaLnBrk="1" latinLnBrk="0" hangingPunct="1">
              <a:spcBef>
                <a:spcPct val="0"/>
              </a:spcBef>
              <a:buNone/>
              <a:defRPr sz="4199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3200" dirty="0"/>
              <a:t>COURSE: MACHINE LEARNING IN ROBOTICS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164AAF7-BE46-4827-8B3C-C4B36474C4C1}"/>
              </a:ext>
            </a:extLst>
          </p:cNvPr>
          <p:cNvSpPr txBox="1">
            <a:spLocks/>
          </p:cNvSpPr>
          <p:nvPr/>
        </p:nvSpPr>
        <p:spPr>
          <a:xfrm>
            <a:off x="1393275" y="4414838"/>
            <a:ext cx="9402274" cy="17145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063" rtl="0" eaLnBrk="1" latinLnBrk="0" hangingPunct="1">
              <a:spcBef>
                <a:spcPct val="0"/>
              </a:spcBef>
              <a:buNone/>
              <a:defRPr sz="4199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3200" dirty="0"/>
              <a:t>INSTRUCTORS</a:t>
            </a:r>
          </a:p>
          <a:p>
            <a:pPr algn="ctr"/>
            <a:r>
              <a:rPr lang="en-US" sz="2400" dirty="0"/>
              <a:t>Professor S. </a:t>
            </a:r>
            <a:r>
              <a:rPr lang="en-US" sz="2400" dirty="0" err="1"/>
              <a:t>Kolyubin</a:t>
            </a:r>
            <a:endParaRPr lang="en-US" sz="2400" dirty="0"/>
          </a:p>
          <a:p>
            <a:pPr algn="ctr"/>
            <a:r>
              <a:rPr lang="en-US" sz="2400" dirty="0"/>
              <a:t>Professor A.A. </a:t>
            </a:r>
            <a:r>
              <a:rPr lang="en-US" sz="2400" dirty="0" err="1"/>
              <a:t>Vedyakov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61469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B215045-A8E7-468B-987F-D7256A7AEABD}"/>
              </a:ext>
            </a:extLst>
          </p:cNvPr>
          <p:cNvSpPr txBox="1">
            <a:spLocks/>
          </p:cNvSpPr>
          <p:nvPr/>
        </p:nvSpPr>
        <p:spPr>
          <a:xfrm>
            <a:off x="1224116" y="1214731"/>
            <a:ext cx="9438968" cy="11557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Research on Increasing the Robustness of 3D Gaussian Splatting via Masking Dynamic Objects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C7117071-5297-4063-9671-555869CD630A}"/>
              </a:ext>
            </a:extLst>
          </p:cNvPr>
          <p:cNvSpPr txBox="1">
            <a:spLocks/>
          </p:cNvSpPr>
          <p:nvPr/>
        </p:nvSpPr>
        <p:spPr>
          <a:xfrm>
            <a:off x="2546733" y="2571111"/>
            <a:ext cx="7095357" cy="3443286"/>
          </a:xfrm>
          <a:prstGeom prst="rect">
            <a:avLst/>
          </a:prstGeom>
        </p:spPr>
        <p:txBody>
          <a:bodyPr>
            <a:normAutofit fontScale="47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/>
              <a:t>BY</a:t>
            </a:r>
          </a:p>
          <a:p>
            <a:pPr marL="0" indent="0" algn="ctr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 algn="ctr">
              <a:lnSpc>
                <a:spcPct val="170000"/>
              </a:lnSpc>
              <a:buNone/>
            </a:pPr>
            <a:r>
              <a:rPr lang="en-US" sz="4400" dirty="0"/>
              <a:t>486554_Mandengs C I</a:t>
            </a:r>
          </a:p>
          <a:p>
            <a:pPr marL="0" indent="0" algn="ctr">
              <a:lnSpc>
                <a:spcPct val="170000"/>
              </a:lnSpc>
              <a:buNone/>
            </a:pPr>
            <a:r>
              <a:rPr lang="en-US" sz="4400" dirty="0"/>
              <a:t>476149_Jacob </a:t>
            </a:r>
            <a:r>
              <a:rPr lang="en-US" sz="4400" dirty="0" err="1"/>
              <a:t>Ahemen</a:t>
            </a:r>
            <a:endParaRPr lang="en-US" sz="4400" dirty="0"/>
          </a:p>
          <a:p>
            <a:pPr marL="0" indent="0" algn="ctr">
              <a:lnSpc>
                <a:spcPct val="170000"/>
              </a:lnSpc>
              <a:buNone/>
            </a:pPr>
            <a:r>
              <a:rPr lang="en-US" sz="4400" dirty="0"/>
              <a:t>474343_Prince Alex</a:t>
            </a:r>
          </a:p>
          <a:p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marL="0" indent="0" algn="ctr">
              <a:buNone/>
            </a:pPr>
            <a:r>
              <a:rPr lang="en-US" b="1" dirty="0"/>
              <a:t>December 2025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1CB245-DD5A-4CEE-B757-11EDEF63839F}"/>
              </a:ext>
            </a:extLst>
          </p:cNvPr>
          <p:cNvSpPr txBox="1"/>
          <p:nvPr/>
        </p:nvSpPr>
        <p:spPr>
          <a:xfrm>
            <a:off x="9101138" y="243959"/>
            <a:ext cx="3043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ITMO UNIVERSITY</a:t>
            </a:r>
          </a:p>
        </p:txBody>
      </p:sp>
    </p:spTree>
    <p:extLst>
      <p:ext uri="{BB962C8B-B14F-4D97-AF65-F5344CB8AC3E}">
        <p14:creationId xmlns:p14="http://schemas.microsoft.com/office/powerpoint/2010/main" val="2095891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BCC38-4841-411D-BD15-15B79C9F7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4764" y="753291"/>
            <a:ext cx="9402274" cy="633132"/>
          </a:xfrm>
        </p:spPr>
        <p:txBody>
          <a:bodyPr/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1.1: 3D Gaussian Splatting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C5E39D-5E57-4C71-A541-FE5A914B5A0A}"/>
              </a:ext>
            </a:extLst>
          </p:cNvPr>
          <p:cNvSpPr txBox="1"/>
          <p:nvPr/>
        </p:nvSpPr>
        <p:spPr>
          <a:xfrm>
            <a:off x="1457325" y="1685925"/>
            <a:ext cx="912971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3D Gaussian Splatting (3DGS) is a state-of-the-art rendering method that reconstructs highly realistic 3D scenes from 2D images or video footage, delivering real-time performance and enabling high-quality synthesis of new viewpoints.</a:t>
            </a:r>
          </a:p>
          <a:p>
            <a:endParaRPr lang="en-US" sz="2400" dirty="0"/>
          </a:p>
          <a:p>
            <a:r>
              <a:rPr lang="en-US" sz="2400" dirty="0"/>
              <a:t>Each Gaussian Stores: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3D position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Covariance (size and orientation)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Color (spherical harmonics)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Opacity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6A3302-573F-404E-8038-024DE1C53E00}"/>
              </a:ext>
            </a:extLst>
          </p:cNvPr>
          <p:cNvSpPr txBox="1"/>
          <p:nvPr/>
        </p:nvSpPr>
        <p:spPr>
          <a:xfrm>
            <a:off x="2756932" y="343284"/>
            <a:ext cx="70953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SECTION ONE: </a:t>
            </a:r>
          </a:p>
        </p:txBody>
      </p:sp>
    </p:spTree>
    <p:extLst>
      <p:ext uri="{BB962C8B-B14F-4D97-AF65-F5344CB8AC3E}">
        <p14:creationId xmlns:p14="http://schemas.microsoft.com/office/powerpoint/2010/main" val="3277453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285750"/>
            <a:ext cx="11329989" cy="1543050"/>
          </a:xfrm>
        </p:spPr>
        <p:txBody>
          <a:bodyPr>
            <a:normAutofit/>
          </a:bodyPr>
          <a:lstStyle/>
          <a:p>
            <a:br>
              <a:rPr lang="en-US" dirty="0"/>
            </a:b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8473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31981" y="507049"/>
            <a:ext cx="1078042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1.2 MOTIVATION</a:t>
            </a:r>
          </a:p>
          <a:p>
            <a:pPr algn="ctr">
              <a:defRPr sz="2400" b="0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sz="2400" b="0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sz="2400" b="0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400" b="0"/>
            </a:pPr>
            <a:r>
              <a:rPr lang="en-US" sz="2400" dirty="0"/>
              <a:t>3D Gaussian Splatting (3DGS) enables real‑time, photorealistic 3D scene reconstruction and is increasingly deployed in robotics, SLAM, AR, and autonomous systems. It performs best with static scenes.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14B8FB-968F-41E7-B7FD-FC1362B5926B}"/>
              </a:ext>
            </a:extLst>
          </p:cNvPr>
          <p:cNvSpPr txBox="1"/>
          <p:nvPr/>
        </p:nvSpPr>
        <p:spPr>
          <a:xfrm>
            <a:off x="9101138" y="243959"/>
            <a:ext cx="3043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ITMO UNIVERSITY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6B87D41-5D62-4FA6-A8E2-C560E214A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9612" y="453166"/>
            <a:ext cx="8229600" cy="467280"/>
          </a:xfrm>
        </p:spPr>
        <p:txBody>
          <a:bodyPr>
            <a:norm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1.2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801A276-B99E-4408-9C6B-1171A310BD24}"/>
              </a:ext>
            </a:extLst>
          </p:cNvPr>
          <p:cNvSpPr txBox="1">
            <a:spLocks/>
          </p:cNvSpPr>
          <p:nvPr/>
        </p:nvSpPr>
        <p:spPr>
          <a:xfrm>
            <a:off x="1285875" y="1969532"/>
            <a:ext cx="9886950" cy="3233057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3DGS assumes static scenes – in reality, scenes are rarely static.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Dynamic objects introduce noise, instability, and artifacts.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The need to produce cleaner, more stable reconstructions that better capture the underlying static geometry, ultimately enhancing the practicality of 3DGS for applications.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79DEB7-7595-438C-8FFC-5051851965F1}"/>
              </a:ext>
            </a:extLst>
          </p:cNvPr>
          <p:cNvSpPr txBox="1"/>
          <p:nvPr/>
        </p:nvSpPr>
        <p:spPr>
          <a:xfrm>
            <a:off x="9101138" y="243959"/>
            <a:ext cx="3043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ITMO UNIVERSITY</a:t>
            </a:r>
          </a:p>
        </p:txBody>
      </p:sp>
    </p:spTree>
    <p:extLst>
      <p:ext uri="{BB962C8B-B14F-4D97-AF65-F5344CB8AC3E}">
        <p14:creationId xmlns:p14="http://schemas.microsoft.com/office/powerpoint/2010/main" val="1043436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3F7BB-EB4D-1B5E-D400-486545F42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90EE30F-A536-F4BD-1B5C-3F1DA6E12930}"/>
              </a:ext>
            </a:extLst>
          </p:cNvPr>
          <p:cNvSpPr txBox="1"/>
          <p:nvPr/>
        </p:nvSpPr>
        <p:spPr>
          <a:xfrm>
            <a:off x="2845026" y="674473"/>
            <a:ext cx="64987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 Overview of Masking Strategies Employed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AC11EFA-A827-821E-6C83-5DDECF24C22F}"/>
                  </a:ext>
                </a:extLst>
              </p:cNvPr>
              <p:cNvSpPr txBox="1"/>
              <p:nvPr/>
            </p:nvSpPr>
            <p:spPr>
              <a:xfrm>
                <a:off x="911081" y="1614980"/>
                <a:ext cx="9588190" cy="5324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b="1" dirty="0"/>
                  <a:t>- Strategy 1: Loss Masking (Gradient Masking)</a:t>
                </a:r>
              </a:p>
              <a:p>
                <a:endParaRPr lang="en-US" b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m:rPr>
                            <m:nor/>
                          </m:rPr>
                          <a:rPr lang="en-US" i="1"/>
                          <m:t>mask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grow m:val="on"/>
                            <m:supHide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b>
                          <m:sup/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</m:nary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  <m:r>
                          <a:rPr lang="ar-AE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nor/>
                          </m:rPr>
                          <a:rPr lang="en-US" i="1"/>
                          <m:t>error</m:t>
                        </m:r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</m:num>
                      <m:den>
                        <m:nary>
                          <m:naryPr>
                            <m:chr m:val="∑"/>
                            <m:grow m:val="on"/>
                            <m:supHide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b>
                          <m:sup/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</m:nary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𝜀</m:t>
                        </m:r>
                      </m:den>
                    </m:f>
                  </m:oMath>
                </a14:m>
                <a:r>
                  <a:rPr lang="en-US" sz="2000" b="0" dirty="0"/>
                  <a:t>: simplified as</a:t>
                </a:r>
                <a:endParaRPr lang="ar-AE" sz="2000" b="0" dirty="0"/>
              </a:p>
              <a:p>
                <a:r>
                  <a:rPr lang="en-US" sz="1600" dirty="0"/>
                  <a:t>where:</a:t>
                </a:r>
              </a:p>
              <a:p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1600" dirty="0"/>
                  <a:t>: pixel index</a:t>
                </a:r>
              </a:p>
              <a:p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ar-AE" sz="16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160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1600" dirty="0"/>
                  <a:t>if pixel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1600" dirty="0"/>
                  <a:t>is static, </a:t>
                </a:r>
                <a14:m>
                  <m:oMath xmlns:m="http://schemas.openxmlformats.org/officeDocument/2006/math">
                    <m:r>
                      <a:rPr lang="en-US" sz="160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600" dirty="0"/>
                  <a:t>if dynamic</a:t>
                </a:r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error</m:t>
                    </m:r>
                    <m:d>
                      <m:d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r>
                  <a:rPr lang="ar-AE" sz="1600" dirty="0"/>
                  <a:t>: </a:t>
                </a:r>
                <a:r>
                  <a:rPr lang="en-US" sz="1600" dirty="0"/>
                  <a:t>per-pixel photometric error (e.g., </a:t>
                </a:r>
                <a14:m>
                  <m:oMath xmlns:m="http://schemas.openxmlformats.org/officeDocument/2006/math">
                    <m:r>
                      <a:rPr lang="en-US" sz="1600">
                        <a:latin typeface="Cambria Math" panose="02040503050406030204" pitchFamily="18" charset="0"/>
                      </a:rPr>
                      <m:t>∥</m:t>
                    </m:r>
                    <m:sSubSup>
                      <m:sSubSup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  <m:sup>
                        <m:r>
                          <m:rPr>
                            <m:nor/>
                          </m:rPr>
                          <a:rPr lang="en-US" sz="1600" i="1"/>
                          <m:t>render</m:t>
                        </m:r>
                      </m:sup>
                    </m:sSubSup>
                    <m:r>
                      <a:rPr lang="ar-AE" sz="1600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  <m:sup>
                        <m:r>
                          <m:rPr>
                            <m:nor/>
                          </m:rPr>
                          <a:rPr lang="en-US" sz="1600" i="1"/>
                          <m:t>gt</m:t>
                        </m:r>
                      </m:sup>
                    </m:sSubSup>
                    <m:sSub>
                      <m:sSub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00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ar-AE" sz="16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ar-AE" sz="1600" dirty="0"/>
                  <a:t>)</a:t>
                </a:r>
              </a:p>
              <a:p>
                <a14:m>
                  <m:oMath xmlns:m="http://schemas.openxmlformats.org/officeDocument/2006/math">
                    <m:r>
                      <a:rPr lang="ar-AE" sz="1600" i="1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ar-AE" sz="1600" dirty="0"/>
                  <a:t>: </a:t>
                </a:r>
                <a:r>
                  <a:rPr lang="en-US" sz="1600" dirty="0"/>
                  <a:t>small constant (e.g.,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60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ar-AE" sz="160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sz="160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lang="ar-AE" sz="1600" dirty="0"/>
                  <a:t>) </a:t>
                </a:r>
                <a:r>
                  <a:rPr lang="en-US" sz="1600" dirty="0"/>
                  <a:t>to avoid division by zero</a:t>
                </a:r>
              </a:p>
              <a:p>
                <a:endParaRPr lang="en-US" sz="1600" dirty="0"/>
              </a:p>
              <a:p>
                <a:r>
                  <a:rPr lang="en-US" sz="2000" b="1" dirty="0"/>
                  <a:t>- Strategy 2: Ray Filtering (Geometry Masking)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i="1"/>
                            <m:t>eff</m:t>
                          </m:r>
                        </m:sup>
                      </m:sSubSup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</m:oMath>
                  </m:oMathPara>
                </a14:m>
                <a:endParaRPr lang="ar-AE" sz="1600" b="0" dirty="0"/>
              </a:p>
              <a:p>
                <a:r>
                  <a:rPr lang="en-US" sz="1600" dirty="0"/>
                  <a:t>where:</a:t>
                </a:r>
              </a:p>
              <a:p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1600" dirty="0"/>
                  <a:t>: pixel (ray) index</a:t>
                </a:r>
              </a:p>
              <a:p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1600" dirty="0"/>
                  <a:t>: Gaussian index along ray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endParaRPr lang="en-US" sz="16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r>
                  <a:rPr lang="ar-AE" sz="1600" dirty="0"/>
                  <a:t>: </a:t>
                </a:r>
                <a:r>
                  <a:rPr lang="en-US" sz="1600" dirty="0"/>
                  <a:t>original opacity of Gaussian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1600" dirty="0"/>
                  <a:t>at pixel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endParaRPr lang="en-US" sz="1600" dirty="0"/>
              </a:p>
              <a:p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ar-AE" sz="16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160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1600" dirty="0"/>
                  <a:t>for static rays, </a:t>
                </a:r>
                <a14:m>
                  <m:oMath xmlns:m="http://schemas.openxmlformats.org/officeDocument/2006/math">
                    <m:r>
                      <a:rPr lang="en-US" sz="160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600" dirty="0"/>
                  <a:t>for dynamic rays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m:rPr>
                            <m:nor/>
                          </m:rPr>
                          <a:rPr lang="en-US" sz="1600" i="1"/>
                          <m:t>eff</m:t>
                        </m:r>
                      </m:sup>
                    </m:sSubSup>
                    <m:d>
                      <m:d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r>
                  <a:rPr lang="ar-AE" sz="1600" dirty="0"/>
                  <a:t>: </a:t>
                </a:r>
                <a:r>
                  <a:rPr lang="en-US" sz="1600" dirty="0"/>
                  <a:t>effective opacity used in compositing</a:t>
                </a:r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AC11EFA-A827-821E-6C83-5DDECF24C2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081" y="1614980"/>
                <a:ext cx="9588190" cy="5324663"/>
              </a:xfrm>
              <a:prstGeom prst="rect">
                <a:avLst/>
              </a:prstGeom>
              <a:blipFill>
                <a:blip r:embed="rId3"/>
                <a:stretch>
                  <a:fillRect l="-636" t="-6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CB02EA46-6E3B-091C-7B48-77E697423F82}"/>
              </a:ext>
            </a:extLst>
          </p:cNvPr>
          <p:cNvSpPr txBox="1"/>
          <p:nvPr/>
        </p:nvSpPr>
        <p:spPr>
          <a:xfrm>
            <a:off x="9101138" y="243959"/>
            <a:ext cx="3043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ITMO UNIVERSITY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FBB6F41-2992-D41C-53AB-E4F11B7EB6D8}"/>
              </a:ext>
            </a:extLst>
          </p:cNvPr>
          <p:cNvSpPr txBox="1"/>
          <p:nvPr/>
        </p:nvSpPr>
        <p:spPr>
          <a:xfrm>
            <a:off x="3087687" y="168413"/>
            <a:ext cx="59007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SECTION TWO: METHODS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76F55E0-D001-4C85-B301-3680C06308BE}"/>
                  </a:ext>
                </a:extLst>
              </p:cNvPr>
              <p:cNvSpPr txBox="1"/>
              <p:nvPr/>
            </p:nvSpPr>
            <p:spPr>
              <a:xfrm>
                <a:off x="5462926" y="2133477"/>
                <a:ext cx="4454639" cy="7630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𝑚𝑎𝑠𝑘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𝑝𝑟𝑒𝑑𝑖𝑐𝑡𝑒𝑑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𝑔𝑡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∗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76F55E0-D001-4C85-B301-3680C06308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2926" y="2133477"/>
                <a:ext cx="4454639" cy="76309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8548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828715" y="147838"/>
            <a:ext cx="461519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2.2: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123833" y="940151"/>
                <a:ext cx="8024961" cy="58128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PSNR(PEAK SIGNAL-TO-NOISE RATIO</a:t>
                </a: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 algn="ctr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MSE = (1/(HW)) </a:t>
                </a:r>
                <a:r>
                  <a:rPr lang="el-G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Σ (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I_ij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−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K_ij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)^2</a:t>
                </a:r>
              </a:p>
              <a:p>
                <a:pPr marL="285750" indent="-285750" algn="ctr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PSNR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x,y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10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𝑀𝑆𝐸</m:t>
                            </m:r>
                          </m:den>
                        </m:f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 algn="ctr">
                  <a:buFont typeface="Arial" panose="020B0604020202020204" pitchFamily="34" charset="0"/>
                  <a:buChar char="•"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Higher = better reconstruction</a:t>
                </a:r>
              </a:p>
              <a:p>
                <a:pPr algn="ctr"/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>
                  <a:defRPr sz="2000" b="0"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SSIM Formula</a:t>
                </a:r>
              </a:p>
              <a:p>
                <a:pPr marL="285750" indent="-285750" algn="ctr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SSIM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(x, y)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µ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µ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)(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𝑥𝑦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µ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µ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)(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 algn="ctr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Measures luminance, contrast, structure</a:t>
                </a:r>
              </a:p>
              <a:p>
                <a:pPr marL="285750" indent="-285750" algn="ctr">
                  <a:buFont typeface="Arial" panose="020B0604020202020204" pitchFamily="34" charset="0"/>
                  <a:buChar char="•"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Higher = more accurate</a:t>
                </a:r>
              </a:p>
              <a:p>
                <a:pPr algn="ctr">
                  <a:defRPr sz="2000" b="0"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>
                  <a:defRPr sz="2000" b="0"/>
                </a:pPr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>
                  <a:defRPr sz="2000" b="0"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LPIPS Formula</a:t>
                </a:r>
              </a:p>
              <a:p>
                <a:pPr marL="342900" indent="-342900" algn="ctr">
                  <a:buFont typeface="Arial" panose="020B0604020202020204" pitchFamily="34" charset="0"/>
                  <a:buChar char="•"/>
                  <a:defRPr sz="2000" b="0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LPIPS (x, y)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sub>
                            </m:sSub>
                          </m:den>
                        </m:f>
                        <m:nary>
                          <m:naryPr>
                            <m:chr m:val="∑"/>
                            <m:limLoc m:val="undOvr"/>
                            <m:sup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  <m:sup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||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⊙(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sup>
                            </m:sSub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− </m:t>
                            </m:r>
                          </m:e>
                        </m:nary>
                      </m:e>
                    </m:nary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)||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/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 algn="ctr">
                  <a:buFont typeface="Arial" panose="020B0604020202020204" pitchFamily="34" charset="0"/>
                  <a:buChar char="•"/>
                  <a:defRPr sz="2000" b="0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Feature-based perceptual similarity</a:t>
                </a:r>
              </a:p>
              <a:p>
                <a:pPr marL="285750" indent="-285750" algn="ctr">
                  <a:buFont typeface="Arial" panose="020B0604020202020204" pitchFamily="34" charset="0"/>
                  <a:buChar char="•"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Lower = more perceptually similar</a:t>
                </a:r>
              </a:p>
              <a:p>
                <a:endParaRPr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833" y="940151"/>
                <a:ext cx="8024961" cy="5812873"/>
              </a:xfrm>
              <a:prstGeom prst="rect">
                <a:avLst/>
              </a:prstGeom>
              <a:blipFill>
                <a:blip r:embed="rId3"/>
                <a:stretch>
                  <a:fillRect t="-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8E95348C-9CE2-4ED3-94A9-48D76BC53E49}"/>
              </a:ext>
            </a:extLst>
          </p:cNvPr>
          <p:cNvSpPr txBox="1"/>
          <p:nvPr/>
        </p:nvSpPr>
        <p:spPr>
          <a:xfrm>
            <a:off x="9101138" y="243959"/>
            <a:ext cx="3043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ITMO UNIVERSITY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D8F524-EF64-486C-B581-A9569C2993BF}"/>
              </a:ext>
            </a:extLst>
          </p:cNvPr>
          <p:cNvSpPr txBox="1"/>
          <p:nvPr/>
        </p:nvSpPr>
        <p:spPr>
          <a:xfrm>
            <a:off x="345039" y="1932342"/>
            <a:ext cx="35575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= maximum possible pixel value of the image (e.g., 1.0 if normalized, 255 if 8-bit)</a:t>
            </a: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=BTW predicted and ground truth images: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5D1339-B66F-4D04-B75A-82876271582C}"/>
              </a:ext>
            </a:extLst>
          </p:cNvPr>
          <p:cNvSpPr txBox="1"/>
          <p:nvPr/>
        </p:nvSpPr>
        <p:spPr>
          <a:xfrm>
            <a:off x="8854525" y="2479084"/>
            <a:ext cx="333430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x, y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local patches of predicted and ground truth images</a:t>
            </a:r>
          </a:p>
          <a:p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μx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​,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μy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 = mean pixel intensity of x and y</a:t>
            </a: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σx2​,σy2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 = variance of x and y</a:t>
            </a:r>
          </a:p>
          <a:p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σxy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 = covariance between x and y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Others= Stabilization constants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22BBAEF-18FB-4A37-901F-C35A811D42E0}"/>
                  </a:ext>
                </a:extLst>
              </p:cNvPr>
              <p:cNvSpPr txBox="1"/>
              <p:nvPr/>
            </p:nvSpPr>
            <p:spPr>
              <a:xfrm>
                <a:off x="261237" y="4113223"/>
                <a:ext cx="3334300" cy="1388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x, y </a:t>
                </a:r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images</a:t>
                </a:r>
              </a:p>
              <a:p>
                <a:endPara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p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</m:sSup>
                      <m:r>
                        <a:rPr lang="en-US" sz="1200" i="1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p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</m:sSup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feature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activations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of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pretrained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network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 (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e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g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., 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AlexNet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VGG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) 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at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layer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US" sz="1200" i="1"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learned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per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channel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weights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for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layer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US" sz="1200" i="1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US" sz="1200" i="1">
                          <a:latin typeface="Cambria Math" panose="02040503050406030204" pitchFamily="18" charset="0"/>
                        </a:rPr>
                        <m:t> = 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spatial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dimensions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of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layer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22BBAEF-18FB-4A37-901F-C35A811D42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237" y="4113223"/>
                <a:ext cx="3334300" cy="1388329"/>
              </a:xfrm>
              <a:prstGeom prst="rect">
                <a:avLst/>
              </a:prstGeom>
              <a:blipFill>
                <a:blip r:embed="rId4"/>
                <a:stretch>
                  <a:fillRect l="-183" t="-441" r="-586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077809" y="382458"/>
            <a:ext cx="66865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2.3: 2D MASKING IN 3DGS – why?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72280" y="1107861"/>
            <a:ext cx="11244263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/>
            </a:pPr>
            <a:r>
              <a:rPr lang="en-US" sz="2000" dirty="0"/>
              <a:t>Since d</a:t>
            </a:r>
            <a:r>
              <a:rPr sz="2000" dirty="0"/>
              <a:t>ynamic objects in scenes cause reconstruction artifacts in 3D Gaussian Splatting</a:t>
            </a:r>
            <a:r>
              <a:rPr lang="en-US" sz="2000" b="1" dirty="0"/>
              <a:t> </a:t>
            </a:r>
            <a:r>
              <a:rPr lang="en-US" sz="2000" dirty="0"/>
              <a:t>the goal of masking is to i</a:t>
            </a:r>
            <a:r>
              <a:rPr sz="2000" dirty="0"/>
              <a:t>mprove reconstruction fidelity using 2D semantic masks</a:t>
            </a:r>
            <a:r>
              <a:rPr lang="en-US" sz="2000" dirty="0"/>
              <a:t>.</a:t>
            </a:r>
          </a:p>
          <a:p>
            <a:pPr>
              <a:defRPr sz="2000" b="0"/>
            </a:pPr>
            <a:endParaRPr lang="en-US" sz="2400" dirty="0"/>
          </a:p>
          <a:p>
            <a:pPr>
              <a:defRPr sz="2000" b="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Hypothesis: For 2D binary masks (1 = static, 0 = dynamic) integrated during training eliminates static artifact error while maintaining efficiency.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ML in Robotics 202510\mask creation.png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FA261B-F9E9-4A48-80DD-57CDC16F64DF}"/>
              </a:ext>
            </a:extLst>
          </p:cNvPr>
          <p:cNvSpPr txBox="1"/>
          <p:nvPr/>
        </p:nvSpPr>
        <p:spPr>
          <a:xfrm>
            <a:off x="9101138" y="243959"/>
            <a:ext cx="3043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ITMO UNIVERSITY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ADF6B8-7274-4A2E-AA7B-49DE180D65DA}"/>
              </a:ext>
            </a:extLst>
          </p:cNvPr>
          <p:cNvSpPr txBox="1"/>
          <p:nvPr/>
        </p:nvSpPr>
        <p:spPr>
          <a:xfrm>
            <a:off x="1043240" y="6370576"/>
            <a:ext cx="862103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/>
            </a:pPr>
            <a:r>
              <a:rPr lang="en-US" dirty="0"/>
              <a:t>Fig. 2.1 : Image ground truth  and masked image</a:t>
            </a:r>
            <a:endParaRPr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61855A9-D8DC-4A03-8B4F-B320F15DA9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0160" y="3064371"/>
            <a:ext cx="9376756" cy="3170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7E49115-EC53-4C00-A605-098D46285E1C}"/>
              </a:ext>
            </a:extLst>
          </p:cNvPr>
          <p:cNvSpPr txBox="1">
            <a:spLocks/>
          </p:cNvSpPr>
          <p:nvPr/>
        </p:nvSpPr>
        <p:spPr>
          <a:xfrm>
            <a:off x="709840" y="2839115"/>
            <a:ext cx="4457700" cy="1179770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PSNR/SSIM/LPIPS for each masking strategy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Ray filtering typically yields sharper details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 masking smooth but robust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90A080-77B8-4622-9CBE-A1C9015DE1FD}"/>
              </a:ext>
            </a:extLst>
          </p:cNvPr>
          <p:cNvSpPr txBox="1"/>
          <p:nvPr/>
        </p:nvSpPr>
        <p:spPr>
          <a:xfrm>
            <a:off x="9101138" y="243959"/>
            <a:ext cx="3043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ITMO UNIVERSITY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D5E220-E899-4A0A-9234-FC5FFF499BF7}"/>
              </a:ext>
            </a:extLst>
          </p:cNvPr>
          <p:cNvSpPr txBox="1"/>
          <p:nvPr/>
        </p:nvSpPr>
        <p:spPr>
          <a:xfrm>
            <a:off x="3751262" y="320903"/>
            <a:ext cx="46862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SECTION 3: RESULTS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CD4B93-1F48-4F0D-B029-E15EF7A2A2E9}"/>
              </a:ext>
            </a:extLst>
          </p:cNvPr>
          <p:cNvSpPr txBox="1"/>
          <p:nvPr/>
        </p:nvSpPr>
        <p:spPr>
          <a:xfrm>
            <a:off x="2698070" y="6226673"/>
            <a:ext cx="33963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Fig 3.0: Ground Truth vs Masked Images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22DBDBA-7CD6-479E-B2C7-F4EC21FB3A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131" y="1143000"/>
            <a:ext cx="11438314" cy="4360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4AD2AB7-7D39-436E-A03D-41B14EF2FA3A}"/>
              </a:ext>
            </a:extLst>
          </p:cNvPr>
          <p:cNvSpPr txBox="1"/>
          <p:nvPr/>
        </p:nvSpPr>
        <p:spPr>
          <a:xfrm>
            <a:off x="1156652" y="896779"/>
            <a:ext cx="98755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https://colab.research.google.com/drive/12VdjSFE5eK1fUsKlF-G-qNppZZy0ad4O?authuser=1#scrollTo=0uDc8xoIQOTy&amp;line=80&amp;uniqifier=1</a:t>
            </a:r>
          </a:p>
        </p:txBody>
      </p:sp>
    </p:spTree>
    <p:extLst>
      <p:ext uri="{BB962C8B-B14F-4D97-AF65-F5344CB8AC3E}">
        <p14:creationId xmlns:p14="http://schemas.microsoft.com/office/powerpoint/2010/main" val="19073422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0AB55-150B-4652-9103-908533E4E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9920" y="9605"/>
            <a:ext cx="9402274" cy="886225"/>
          </a:xfrm>
        </p:spPr>
        <p:txBody>
          <a:bodyPr/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3.2: Quantitative Results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Metrics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Comparison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ML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 in Robotics 202510\3dgs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traing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 Results\comparison_figures_actual.png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7D2ED0-19A6-4CB0-BDDD-E0D4F736669F}"/>
              </a:ext>
            </a:extLst>
          </p:cNvPr>
          <p:cNvSpPr txBox="1"/>
          <p:nvPr/>
        </p:nvSpPr>
        <p:spPr>
          <a:xfrm>
            <a:off x="1410381" y="6410041"/>
            <a:ext cx="4514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Fig. 3.1A: Bar chart view per methods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2CB908D0-02EE-4310-B0AD-DDB43A61C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1" y="1130530"/>
            <a:ext cx="5122812" cy="4971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9EA77164-A866-4C2D-8A24-D5B8281B23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4423" y="1130530"/>
            <a:ext cx="5602778" cy="4971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FAD4704-B51A-457D-A3DA-274FE817A5B5}"/>
              </a:ext>
            </a:extLst>
          </p:cNvPr>
          <p:cNvSpPr txBox="1"/>
          <p:nvPr/>
        </p:nvSpPr>
        <p:spPr>
          <a:xfrm>
            <a:off x="6263594" y="6336242"/>
            <a:ext cx="4514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Fig. 3.1B: Bar chart view per methods</a:t>
            </a:r>
          </a:p>
        </p:txBody>
      </p:sp>
    </p:spTree>
    <p:extLst>
      <p:ext uri="{BB962C8B-B14F-4D97-AF65-F5344CB8AC3E}">
        <p14:creationId xmlns:p14="http://schemas.microsoft.com/office/powerpoint/2010/main" val="862383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4DF19-7DE3-4B11-9F74-699CDC252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6969" y="452718"/>
            <a:ext cx="9402274" cy="1010322"/>
          </a:xfrm>
        </p:spPr>
        <p:txBody>
          <a:bodyPr/>
          <a:lstStyle/>
          <a:p>
            <a:r>
              <a:rPr lang="en-US" dirty="0"/>
              <a:t>OVERALL METRIC COMPARISON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B0618ED6-97BF-403D-A433-D6EF93BF75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9581" y="485969"/>
            <a:ext cx="10045851" cy="550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8EEC38D-39FF-4ACA-A640-6826C19D3305}"/>
              </a:ext>
            </a:extLst>
          </p:cNvPr>
          <p:cNvSpPr txBox="1"/>
          <p:nvPr/>
        </p:nvSpPr>
        <p:spPr>
          <a:xfrm>
            <a:off x="1410381" y="6410041"/>
            <a:ext cx="4514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Fig. 3.1C: Overall Metric Comparison</a:t>
            </a:r>
          </a:p>
        </p:txBody>
      </p:sp>
    </p:spTree>
    <p:extLst>
      <p:ext uri="{BB962C8B-B14F-4D97-AF65-F5344CB8AC3E}">
        <p14:creationId xmlns:p14="http://schemas.microsoft.com/office/powerpoint/2010/main" val="28014003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312046" y="243959"/>
            <a:ext cx="356473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3.3: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1651" y="1100167"/>
            <a:ext cx="1099366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000" b="0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Integrating dynamic masks into the 3DGS training pipeline effectively produces cleaner static reconstructions in dynamic scenes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 b="0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Masking offers a practical path to robustness without modifying core 3DGS architecture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 b="0"/>
            </a:pPr>
            <a:r>
              <a:rPr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 masking slightly better perceptually than ray filtering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but keeps partial information.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D174D2-E9EE-4FE5-9244-F7681288980E}"/>
              </a:ext>
            </a:extLst>
          </p:cNvPr>
          <p:cNvSpPr txBox="1"/>
          <p:nvPr/>
        </p:nvSpPr>
        <p:spPr>
          <a:xfrm>
            <a:off x="9101138" y="243959"/>
            <a:ext cx="3043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ITMO UNIVERSITY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1C71AD-0452-4680-ACE7-9AEF9790933A}"/>
              </a:ext>
            </a:extLst>
          </p:cNvPr>
          <p:cNvSpPr txBox="1"/>
          <p:nvPr/>
        </p:nvSpPr>
        <p:spPr>
          <a:xfrm>
            <a:off x="405720" y="2738314"/>
            <a:ext cx="11185526" cy="155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3.4: Limitations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work was carried out using synthetic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depends on mask quality to achieve higher quality reconstruction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scene design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070C51-DCE4-45BA-AAE3-B5F32134557F}"/>
              </a:ext>
            </a:extLst>
          </p:cNvPr>
          <p:cNvSpPr txBox="1"/>
          <p:nvPr/>
        </p:nvSpPr>
        <p:spPr>
          <a:xfrm>
            <a:off x="501651" y="4292586"/>
            <a:ext cx="11001377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3.5: Future 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 masks automatically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e.g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using segmentation network to apply to real-world videos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 from static-scene robustness to full dynamic-scene modelling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e.g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combining static 3DGS with 4D Gaussians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2528</TotalTime>
  <Words>1286</Words>
  <Application>Microsoft Office PowerPoint</Application>
  <PresentationFormat>Custom</PresentationFormat>
  <Paragraphs>159</Paragraphs>
  <Slides>12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Calibri</vt:lpstr>
      <vt:lpstr>Cambria Math</vt:lpstr>
      <vt:lpstr>Century Gothic</vt:lpstr>
      <vt:lpstr>Times New Roman</vt:lpstr>
      <vt:lpstr>Wingdings</vt:lpstr>
      <vt:lpstr>Wingdings 3</vt:lpstr>
      <vt:lpstr>Ion</vt:lpstr>
      <vt:lpstr>ITMO UNIVERSITY  FACULTY OF CONTROL SYSTEMS AND ROBOTICS</vt:lpstr>
      <vt:lpstr>PowerPoint Presentation</vt:lpstr>
      <vt:lpstr>1.1: 3D Gaussian Splatting Overview</vt:lpstr>
      <vt:lpstr> </vt:lpstr>
      <vt:lpstr>1.2 Problem Statement</vt:lpstr>
      <vt:lpstr>PowerPoint Presentation</vt:lpstr>
      <vt:lpstr>PowerPoint Presentation</vt:lpstr>
      <vt:lpstr>PowerPoint Presentation</vt:lpstr>
      <vt:lpstr>PowerPoint Presentation</vt:lpstr>
      <vt:lpstr>3.2: Quantitative Results Metrics ComparisonML in Robotics 202510\3dgs traing Results\comparison_figures_actual.png</vt:lpstr>
      <vt:lpstr>OVERALL METRIC COMPARISON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Mandengs</cp:lastModifiedBy>
  <cp:revision>302</cp:revision>
  <dcterms:created xsi:type="dcterms:W3CDTF">2013-01-27T09:14:16Z</dcterms:created>
  <dcterms:modified xsi:type="dcterms:W3CDTF">2026-01-01T12:40:48Z</dcterms:modified>
  <cp:category/>
</cp:coreProperties>
</file>